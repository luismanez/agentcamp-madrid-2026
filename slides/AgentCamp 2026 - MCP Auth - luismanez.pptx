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5"/>
  </p:notesMasterIdLst>
  <p:sldIdLst>
    <p:sldId id="271" r:id="rId5"/>
    <p:sldId id="257" r:id="rId6"/>
    <p:sldId id="268" r:id="rId7"/>
    <p:sldId id="261" r:id="rId8"/>
    <p:sldId id="258" r:id="rId9"/>
    <p:sldId id="259" r:id="rId10"/>
    <p:sldId id="284" r:id="rId11"/>
    <p:sldId id="285" r:id="rId12"/>
    <p:sldId id="288" r:id="rId13"/>
    <p:sldId id="289" r:id="rId14"/>
    <p:sldId id="290" r:id="rId15"/>
    <p:sldId id="291" r:id="rId16"/>
    <p:sldId id="292" r:id="rId17"/>
    <p:sldId id="299" r:id="rId18"/>
    <p:sldId id="2147482341" r:id="rId19"/>
    <p:sldId id="2147482342" r:id="rId20"/>
    <p:sldId id="2147482343" r:id="rId21"/>
    <p:sldId id="2147482344" r:id="rId22"/>
    <p:sldId id="2147482345" r:id="rId23"/>
    <p:sldId id="2147482346" r:id="rId24"/>
    <p:sldId id="2147482347" r:id="rId25"/>
    <p:sldId id="2147482348" r:id="rId26"/>
    <p:sldId id="2147482349" r:id="rId27"/>
    <p:sldId id="2147482350" r:id="rId28"/>
    <p:sldId id="2147482351" r:id="rId29"/>
    <p:sldId id="2147482352" r:id="rId30"/>
    <p:sldId id="2147482340" r:id="rId31"/>
    <p:sldId id="2147482339" r:id="rId32"/>
    <p:sldId id="272" r:id="rId33"/>
    <p:sldId id="274" r:id="rId34"/>
  </p:sldIdLst>
  <p:sldSz cx="12192000" cy="6858000"/>
  <p:notesSz cx="6858000" cy="9144000"/>
  <p:embeddedFontLst>
    <p:embeddedFont>
      <p:font typeface="Lufga" panose="020B0604020202020204" charset="0"/>
      <p:regular r:id="rId36"/>
      <p:bold r:id="rId37"/>
      <p:italic r:id="rId38"/>
      <p:boldItalic r:id="rId39"/>
    </p:embeddedFont>
    <p:embeddedFont>
      <p:font typeface="Montserrat SemiBold" panose="00000700000000000000" pitchFamily="2" charset="0"/>
      <p:bold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522B"/>
    <a:srgbClr val="37B3AD"/>
    <a:srgbClr val="F7CA66"/>
    <a:srgbClr val="FFFFFF"/>
    <a:srgbClr val="113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660"/>
  </p:normalViewPr>
  <p:slideViewPr>
    <p:cSldViewPr snapToGrid="0">
      <p:cViewPr varScale="1">
        <p:scale>
          <a:sx n="62" d="100"/>
          <a:sy n="62" d="100"/>
        </p:scale>
        <p:origin x="91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20" Type="http://schemas.openxmlformats.org/officeDocument/2006/relationships/slide" Target="slides/slide16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9B04E-0573-4CE3-AA14-E63C3F2FFCE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4922B-3298-4959-977C-FE61F5BB0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49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41B2F-F270-4B68-B28B-203EC40E9173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8736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1EE9-D2EB-5C33-5725-4B56BABCE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FF3D8-AB67-38B5-1DB8-13C26FBF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9F7B-8A59-C812-FD25-1CBB6D6D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BB246-1223-15CE-B4CB-B70E38C0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131C6-CA25-98DF-4895-90803E63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4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5CA2-6192-B719-0129-5B99DFC2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B096-5F51-307E-2A47-27DB991E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CC6AD-0EDA-F588-5329-96934F25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1E12E-3351-7F31-096A-6AB3708B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33FE4-F459-6950-4CF0-F4CC2C5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3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8F73-9284-754F-2F52-5CA80E2F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D1591-AA24-2C74-8AFF-096689AB0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F26C6-800B-3E61-77C4-14D3B72F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E1F0F-EBE5-4723-FC50-AAB6F2CE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C0FA-5807-18E5-587B-B7A2B701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2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E9F2-628C-8C88-249F-BFAB1634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86485-B644-0558-A7FD-AEAED4D79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71156-96F1-92CE-B6C3-F94A91C77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E0C72-0A44-3BEF-9C26-53713E0A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DD2E6-223F-35FA-E94D-9117D9FCA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0FB03-F720-5DC2-E42E-B57B8403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0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6A22-53C5-7F35-DF9D-69CE4B1B1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FDE2A-DA52-71E3-7C68-83F53C35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E3F1D-D3C0-24FE-284E-D5F1685FD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7EFE4-4199-4006-38D6-DAA05F029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10480-9ED0-5B36-B2B4-EF74717E5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E6096-BD1F-82DC-C745-D6704A31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5FBAF-DF93-6D1A-1815-D8DB05A5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F9DBD-E7D2-5098-97C5-9D308595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9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CF4B-55BB-19C7-00C7-FAB06E7B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F63C3-058A-49D0-E59D-77071B1A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9C61C-F827-8DE6-FB2D-73A2F047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1985B-B925-4C4C-6BF1-30AFC0EF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2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9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4608-5700-7ABB-3B11-17A1733A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5985A-A762-6D68-96CE-708156E80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CDE34-99E1-7839-2B0F-94EB04F11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65DE-2586-726F-D9F1-B6556478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1ACA4-246B-2D2B-B0A2-7B3B8364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DF95E-B6AF-9DC2-75C4-EFE145AA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9783-0310-DE24-EA8E-68868C60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4A9A4-8063-FD4E-B52F-870A335E6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D6CD9-31F2-5B1E-5A4A-5C38DC7E9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85EA1-5BC1-7832-B7F5-F4D0D810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D3897-C011-118D-F95A-F28E8241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489DB-5854-05BE-CA9A-8C12A93A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9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7F6B-1E32-634B-ECF5-914F3481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42C2E-B674-7B94-0CEA-FA799A6CC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02D8-568D-7D89-F880-BC7CB7B8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08C1-9A9A-6346-9A12-1D3610C7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F3EC-8378-D48B-33A6-5CE4EE94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6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EEE578-E2D0-5B96-36A3-22987888E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01419-F51A-A866-89B2-A6DA5883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03C4B-965E-E49C-1E6E-2DB208DB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68E58-6C96-B2BB-7FAB-B4405AD0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4CAE-BF6F-C7AC-625B-80BE10E0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52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29877-6BD4-653C-749A-331C8004A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4577"/>
          </a:xfrm>
        </p:spPr>
        <p:txBody>
          <a:bodyPr tIns="0" bIns="0"/>
          <a:lstStyle>
            <a:lvl1pPr>
              <a:defRPr b="1" i="0">
                <a:latin typeface="Montserrat SemiBold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1673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599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3" y="-203944"/>
            <a:ext cx="576738" cy="15390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427158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ilhouette of a city&#10;&#10;AI-generated content may be incorrect.">
            <a:extLst>
              <a:ext uri="{FF2B5EF4-FFF2-40B4-BE49-F238E27FC236}">
                <a16:creationId xmlns:a16="http://schemas.microsoft.com/office/drawing/2014/main" id="{E134ECA9-9007-251D-BF9F-93E1B19975D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8A224-A07F-D1CC-488A-32F01743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CCA1-C758-6EF9-6BA9-6868514C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722D6-AE58-5C40-599F-4E9DAEEC9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3396F-A861-4C1C-A7E9-F53FB1B01DF7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D2FAF-006F-1388-18F2-1A8758C63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8DBDE-7680-E54A-7822-E5230C6A6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25323-F69B-4C72-A383-43AF704BB72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5090FE9-6F62-0D72-68E0-1450118534C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-542925"/>
            <a:ext cx="2095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2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7CA66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9.png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9.png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1DB5E-E7AA-E8CC-BFD3-2526A913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7CA9B9A6-6793-F43A-179E-0FA1B6E02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0956B4-319C-66AC-ED14-191FC15E867A}"/>
              </a:ext>
            </a:extLst>
          </p:cNvPr>
          <p:cNvSpPr txBox="1"/>
          <p:nvPr/>
        </p:nvSpPr>
        <p:spPr>
          <a:xfrm>
            <a:off x="1104900" y="2808288"/>
            <a:ext cx="2549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28 </a:t>
            </a:r>
            <a:r>
              <a:rPr lang="en-US" sz="2400" dirty="0" err="1">
                <a:solidFill>
                  <a:schemeClr val="bg1"/>
                </a:solidFill>
                <a:latin typeface="Lufga" panose="00000500000000000000" pitchFamily="50" charset="0"/>
              </a:rPr>
              <a:t>Febrero</a:t>
            </a:r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9C8B5-3709-EADD-E2CC-2BDCFB3EFC09}"/>
              </a:ext>
            </a:extLst>
          </p:cNvPr>
          <p:cNvSpPr txBox="1"/>
          <p:nvPr/>
        </p:nvSpPr>
        <p:spPr>
          <a:xfrm>
            <a:off x="1104899" y="3429000"/>
            <a:ext cx="388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09:00 AM – 18:00 PM CST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F10AB-A08E-8645-DCD8-7537E5AF8C63}"/>
              </a:ext>
            </a:extLst>
          </p:cNvPr>
          <p:cNvSpPr txBox="1"/>
          <p:nvPr/>
        </p:nvSpPr>
        <p:spPr>
          <a:xfrm>
            <a:off x="1104898" y="4049712"/>
            <a:ext cx="325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CEU San Pablo</a:t>
            </a:r>
          </a:p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Madrid, Spain</a:t>
            </a:r>
          </a:p>
        </p:txBody>
      </p:sp>
      <p:pic>
        <p:nvPicPr>
          <p:cNvPr id="16" name="Picture 15" descr="A white line icon of a calendar&#10;&#10;AI-generated content may be incorrect.">
            <a:extLst>
              <a:ext uri="{FF2B5EF4-FFF2-40B4-BE49-F238E27FC236}">
                <a16:creationId xmlns:a16="http://schemas.microsoft.com/office/drawing/2014/main" id="{BC31A046-81F1-57F9-6647-DD5A218D2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" y="2896474"/>
            <a:ext cx="297575" cy="297575"/>
          </a:xfrm>
          <a:prstGeom prst="rect">
            <a:avLst/>
          </a:prstGeom>
        </p:spPr>
      </p:pic>
      <p:pic>
        <p:nvPicPr>
          <p:cNvPr id="17" name="Picture 16" descr="A white clock with a black background&#10;&#10;AI-generated content may be incorrect.">
            <a:extLst>
              <a:ext uri="{FF2B5EF4-FFF2-40B4-BE49-F238E27FC236}">
                <a16:creationId xmlns:a16="http://schemas.microsoft.com/office/drawing/2014/main" id="{7544D3CD-3676-CA7E-D772-86D19EAC8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3523016"/>
            <a:ext cx="297575" cy="297575"/>
          </a:xfrm>
          <a:prstGeom prst="rect">
            <a:avLst/>
          </a:prstGeom>
        </p:spPr>
      </p:pic>
      <p:pic>
        <p:nvPicPr>
          <p:cNvPr id="18" name="Picture 17" descr="A white and black logo&#10;&#10;AI-generated content may be incorrect.">
            <a:extLst>
              <a:ext uri="{FF2B5EF4-FFF2-40B4-BE49-F238E27FC236}">
                <a16:creationId xmlns:a16="http://schemas.microsoft.com/office/drawing/2014/main" id="{72688534-ADF5-A82D-F69C-274B74681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4149558"/>
            <a:ext cx="297575" cy="297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E92FFD-F99D-4294-E4B8-DABD159029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255" y="751743"/>
            <a:ext cx="4289461" cy="428946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BF25C8-4E23-1470-86E6-A0AE96604CFD}"/>
              </a:ext>
            </a:extLst>
          </p:cNvPr>
          <p:cNvSpPr/>
          <p:nvPr/>
        </p:nvSpPr>
        <p:spPr>
          <a:xfrm rot="21385415">
            <a:off x="7633194" y="4936461"/>
            <a:ext cx="3283974" cy="523568"/>
          </a:xfrm>
          <a:prstGeom prst="roundRect">
            <a:avLst/>
          </a:prstGeom>
          <a:solidFill>
            <a:srgbClr val="D55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44E3F-08DD-CFC5-DC4E-93186101E61C}"/>
              </a:ext>
            </a:extLst>
          </p:cNvPr>
          <p:cNvSpPr txBox="1"/>
          <p:nvPr/>
        </p:nvSpPr>
        <p:spPr>
          <a:xfrm rot="21393749">
            <a:off x="7692899" y="5013578"/>
            <a:ext cx="3164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ufga" panose="00000500000000000000" pitchFamily="50" charset="0"/>
                <a:cs typeface="Lao UI" panose="020F0502020204030204" pitchFamily="34" charset="0"/>
              </a:rPr>
              <a:t>https://globalai.es/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F5F143-5D54-8849-165B-98CEEB5551EB}"/>
              </a:ext>
            </a:extLst>
          </p:cNvPr>
          <p:cNvSpPr txBox="1"/>
          <p:nvPr/>
        </p:nvSpPr>
        <p:spPr>
          <a:xfrm>
            <a:off x="7280825" y="6349561"/>
            <a:ext cx="46411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</p:spTree>
    <p:extLst>
      <p:ext uri="{BB962C8B-B14F-4D97-AF65-F5344CB8AC3E}">
        <p14:creationId xmlns:p14="http://schemas.microsoft.com/office/powerpoint/2010/main" val="179237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1458B2E0-70BE-4F35-B608-B232049CC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458B49E0-C8F1-92DB-E019-C91FE56B7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54" y="-790575"/>
            <a:ext cx="3086100" cy="3086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A7A8E9-C746-B666-F7C5-960FB93D2524}"/>
              </a:ext>
            </a:extLst>
          </p:cNvPr>
          <p:cNvSpPr txBox="1"/>
          <p:nvPr/>
        </p:nvSpPr>
        <p:spPr>
          <a:xfrm>
            <a:off x="593229" y="2088577"/>
            <a:ext cx="56749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Model Context Protocol</a:t>
            </a:r>
          </a:p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Authorization Unleashed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E69A38-E4BF-4B9A-0C99-CA945F13DCA3}"/>
              </a:ext>
            </a:extLst>
          </p:cNvPr>
          <p:cNvSpPr txBox="1"/>
          <p:nvPr/>
        </p:nvSpPr>
        <p:spPr>
          <a:xfrm>
            <a:off x="8877982" y="4544323"/>
            <a:ext cx="2628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7CA66"/>
                </a:solidFill>
                <a:latin typeface="Lufga" panose="00000500000000000000" pitchFamily="50" charset="0"/>
              </a:rPr>
              <a:t>Luis Mañez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3312E0-D81B-5049-437F-B3355C3BC79C}"/>
              </a:ext>
            </a:extLst>
          </p:cNvPr>
          <p:cNvSpPr txBox="1"/>
          <p:nvPr/>
        </p:nvSpPr>
        <p:spPr>
          <a:xfrm>
            <a:off x="8877982" y="4871234"/>
            <a:ext cx="2628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Sr. Software Engineer</a:t>
            </a:r>
          </a:p>
          <a:p>
            <a:pPr algn="ctr"/>
            <a:r>
              <a:rPr lang="en-US" sz="1600" dirty="0" err="1">
                <a:solidFill>
                  <a:srgbClr val="F7CA66"/>
                </a:solidFill>
                <a:latin typeface="Lufga" panose="00000500000000000000" pitchFamily="50" charset="0"/>
              </a:rPr>
              <a:t>ClearPeople</a:t>
            </a:r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 LTD</a:t>
            </a:r>
          </a:p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@luismanez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BB5AA-0F04-58D6-50B6-DCCA0E7EE8F9}"/>
              </a:ext>
            </a:extLst>
          </p:cNvPr>
          <p:cNvSpPr txBox="1"/>
          <p:nvPr/>
        </p:nvSpPr>
        <p:spPr>
          <a:xfrm>
            <a:off x="7703035" y="6349561"/>
            <a:ext cx="42189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216A29-0D18-F876-A1CA-8897B1764D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982" y="1888896"/>
            <a:ext cx="2628919" cy="2571769"/>
          </a:xfrm>
          <a:prstGeom prst="round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D2E887-2BE3-9145-BCCB-5F1253FB5A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914" y="570063"/>
            <a:ext cx="2289053" cy="92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AF591-1100-6BA6-F0CD-567EC958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79D0A19C-02C0-3E17-691B-20BA6BA14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5629A6F-1AE0-3C3C-D253-08351A280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527" y="-167148"/>
            <a:ext cx="2203795" cy="2203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EF5201-550D-6207-A466-AC488CF8212F}"/>
              </a:ext>
            </a:extLst>
          </p:cNvPr>
          <p:cNvSpPr txBox="1"/>
          <p:nvPr/>
        </p:nvSpPr>
        <p:spPr>
          <a:xfrm>
            <a:off x="0" y="58912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   ¡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Gracias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a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nuestros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Patrocinadores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6CB32-FC6D-DCE5-7CCE-1CD5D7CD179D}"/>
              </a:ext>
            </a:extLst>
          </p:cNvPr>
          <p:cNvSpPr txBox="1"/>
          <p:nvPr/>
        </p:nvSpPr>
        <p:spPr>
          <a:xfrm>
            <a:off x="6180547" y="6410323"/>
            <a:ext cx="22286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dirty="0" err="1">
                <a:solidFill>
                  <a:schemeClr val="bg1"/>
                </a:solidFill>
                <a:latin typeface="Lufga" panose="020B0604020202020204" charset="0"/>
              </a:rPr>
              <a:t>Colaboradores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0CBCDD-4A52-6716-DDDB-F7F4B97BC090}"/>
              </a:ext>
            </a:extLst>
          </p:cNvPr>
          <p:cNvSpPr/>
          <p:nvPr/>
        </p:nvSpPr>
        <p:spPr>
          <a:xfrm>
            <a:off x="0" y="2106201"/>
            <a:ext cx="12192000" cy="2357167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8CDC0B-FFB0-177E-E061-8F1E9CDE6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11" y="3290368"/>
            <a:ext cx="2846433" cy="9222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78DDE3-FDA9-5E19-A683-3E36D54C38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34" y="3250073"/>
            <a:ext cx="2796229" cy="862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2F59A47-589A-F5FB-5010-142F99E7CA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136" y="3366680"/>
            <a:ext cx="3233792" cy="8129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2CAD0DC-BA0D-8B08-EEFB-FD3EB96A42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92" y="2166985"/>
            <a:ext cx="2721870" cy="10668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08CD658-F9F9-B702-B76E-453EA827FA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012" y="2194225"/>
            <a:ext cx="2721870" cy="10668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86DD1C2-0772-280E-1D99-A74E36DB09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136" y="2357167"/>
            <a:ext cx="3104787" cy="8032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161EF6-950C-B44D-0B87-D65E022B89F8}"/>
              </a:ext>
            </a:extLst>
          </p:cNvPr>
          <p:cNvSpPr txBox="1"/>
          <p:nvPr/>
        </p:nvSpPr>
        <p:spPr>
          <a:xfrm>
            <a:off x="5195753" y="1582981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rgbClr val="F7CA66"/>
                </a:solidFill>
                <a:latin typeface="Lufga" panose="00000500000000000000" pitchFamily="50" charset="0"/>
              </a:rPr>
              <a:t>PREMIUM</a:t>
            </a:r>
            <a:endParaRPr lang="en-US" sz="2000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490C9-0992-FF57-097F-B3AAE8C8A313}"/>
              </a:ext>
            </a:extLst>
          </p:cNvPr>
          <p:cNvSpPr txBox="1"/>
          <p:nvPr/>
        </p:nvSpPr>
        <p:spPr>
          <a:xfrm>
            <a:off x="5634173" y="4734654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F7CA66"/>
                </a:solidFill>
                <a:latin typeface="Lufga" panose="00000500000000000000" pitchFamily="50" charset="0"/>
              </a:rPr>
              <a:t>GOLD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7BD847-AB9E-E53E-8917-B0AF874240A0}"/>
              </a:ext>
            </a:extLst>
          </p:cNvPr>
          <p:cNvSpPr/>
          <p:nvPr/>
        </p:nvSpPr>
        <p:spPr>
          <a:xfrm>
            <a:off x="-2" y="5174473"/>
            <a:ext cx="12192000" cy="1035979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4559C12-C0DD-5513-4654-94991BAADE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988" y="5451670"/>
            <a:ext cx="1560579" cy="48158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C31FD5B-BB55-D41A-C7E4-0CFC87A482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631" y="5276076"/>
            <a:ext cx="1595733" cy="83277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429F0B9-CE3C-B23E-6B38-7C109DC28D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190" y="5446246"/>
            <a:ext cx="1595733" cy="49243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41B1028-97BE-E4DD-84D3-A49ABA0648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999" y="6270862"/>
            <a:ext cx="1407143" cy="61747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C6E34D5-260C-65A8-AADE-3D4B25026E2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017" y="6129913"/>
            <a:ext cx="2006789" cy="89945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1420D5-89EA-96BD-0C4D-FA5DCF17407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8513" y="5438626"/>
            <a:ext cx="1700494" cy="50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0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0D06598E-200B-11C6-381D-B2037E566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A9833F-CEEE-F838-129A-C3C9EC792010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7CA66"/>
                </a:solidFill>
                <a:latin typeface="Lufga" panose="00000500000000000000" pitchFamily="50" charset="0"/>
              </a:rPr>
              <a:t>gaic.io/discord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F1B83D-B098-2BAF-BFEF-E9661EE67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Join the AI Conversation </a:t>
            </a:r>
            <a:br>
              <a:rPr lang="en-US" sz="3200" dirty="0"/>
            </a:br>
            <a:r>
              <a:rPr lang="en-US" sz="3200" dirty="0"/>
              <a:t>on Discord</a:t>
            </a:r>
          </a:p>
        </p:txBody>
      </p:sp>
    </p:spTree>
    <p:extLst>
      <p:ext uri="{BB962C8B-B14F-4D97-AF65-F5344CB8AC3E}">
        <p14:creationId xmlns:p14="http://schemas.microsoft.com/office/powerpoint/2010/main" val="1422167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1DEA-1479-95DF-4872-D4DA07593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Context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CD6D3-8094-8BAF-0B7D-63E77C3111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887860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5">
            <a:extLst>
              <a:ext uri="{FF2B5EF4-FFF2-40B4-BE49-F238E27FC236}">
                <a16:creationId xmlns:a16="http://schemas.microsoft.com/office/drawing/2014/main" id="{67DD4B7E-EE97-1A3E-65B5-51F068D4BD7F}"/>
              </a:ext>
            </a:extLst>
          </p:cNvPr>
          <p:cNvGrpSpPr/>
          <p:nvPr/>
        </p:nvGrpSpPr>
        <p:grpSpPr>
          <a:xfrm>
            <a:off x="2591610" y="1914778"/>
            <a:ext cx="7326922" cy="2123381"/>
            <a:chOff x="2061185" y="1665515"/>
            <a:chExt cx="10508019" cy="3045281"/>
          </a:xfrm>
        </p:grpSpPr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362C18D0-A3C0-EF6B-65AB-8D87F7FE0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1185" y="1665515"/>
              <a:ext cx="10508019" cy="3045281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05D30157-C5B5-83E8-DA02-3435561C4824}"/>
                </a:ext>
              </a:extLst>
            </p:cNvPr>
            <p:cNvSpPr/>
            <p:nvPr/>
          </p:nvSpPr>
          <p:spPr>
            <a:xfrm>
              <a:off x="3914272" y="3927165"/>
              <a:ext cx="5164412" cy="350919"/>
            </a:xfrm>
            <a:prstGeom prst="rect">
              <a:avLst/>
            </a:prstGeom>
            <a:noFill/>
            <a:ln w="38103" cap="flat">
              <a:solidFill>
                <a:srgbClr val="FF0000"/>
              </a:solidFill>
              <a:prstDash val="solid"/>
              <a:miter/>
            </a:ln>
          </p:spPr>
          <p:txBody>
            <a:bodyPr vert="horz" wrap="square" lIns="76200" tIns="38100" rIns="76200" bIns="38100" anchor="ctr" anchorCtr="1" compatLnSpc="1">
              <a:noAutofit/>
            </a:bodyPr>
            <a:lstStyle/>
            <a:p>
              <a:pPr algn="ctr" defTabSz="762038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500">
                <a:solidFill>
                  <a:srgbClr val="FFFFFF"/>
                </a:solidFill>
                <a:latin typeface="Calibri"/>
              </a:endParaRPr>
            </a:p>
          </p:txBody>
        </p:sp>
      </p:grpSp>
      <p:pic>
        <p:nvPicPr>
          <p:cNvPr id="11" name="Picture 2" descr="a man in a suit and tie stands in a room">
            <a:extLst>
              <a:ext uri="{FF2B5EF4-FFF2-40B4-BE49-F238E27FC236}">
                <a16:creationId xmlns:a16="http://schemas.microsoft.com/office/drawing/2014/main" id="{85C1F2A2-BF82-2FDB-041C-CD94BB55F1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99856" y="3751922"/>
            <a:ext cx="3279587" cy="231151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4A6EC725-2FD5-C5A8-1E24-12579F77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do we need this (sh1t)!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C159B-AEE2-5E7C-7740-1A5A730F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E356333-9921-FEA7-CDE4-AFD37B4E22A8}"/>
              </a:ext>
            </a:extLst>
          </p:cNvPr>
          <p:cNvGrpSpPr/>
          <p:nvPr/>
        </p:nvGrpSpPr>
        <p:grpSpPr>
          <a:xfrm>
            <a:off x="4044623" y="2670252"/>
            <a:ext cx="4102754" cy="2734197"/>
            <a:chOff x="3928154" y="2470227"/>
            <a:chExt cx="4102754" cy="2734197"/>
          </a:xfrm>
        </p:grpSpPr>
        <p:sp>
          <p:nvSpPr>
            <p:cNvPr id="8" name="Text 0">
              <a:extLst>
                <a:ext uri="{FF2B5EF4-FFF2-40B4-BE49-F238E27FC236}">
                  <a16:creationId xmlns:a16="http://schemas.microsoft.com/office/drawing/2014/main" id="{493B314E-DE21-CFA6-F57B-158BAAF7CF68}"/>
                </a:ext>
              </a:extLst>
            </p:cNvPr>
            <p:cNvSpPr/>
            <p:nvPr/>
          </p:nvSpPr>
          <p:spPr>
            <a:xfrm>
              <a:off x="3928154" y="2470227"/>
              <a:ext cx="4102754" cy="703234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defTabSz="762038">
                <a:lnSpc>
                  <a:spcPts val="4626"/>
                </a:lnSpc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7200" b="1" dirty="0">
                  <a:solidFill>
                    <a:srgbClr val="D5522B"/>
                  </a:solidFill>
                  <a:latin typeface="Montserrat SemiBold" panose="00000700000000000000" pitchFamily="2" charset="0"/>
                  <a:ea typeface="Inter Bold" pitchFamily="34"/>
                  <a:cs typeface="Inter Bold" pitchFamily="34"/>
                </a:rPr>
                <a:t>M</a:t>
              </a:r>
              <a:r>
                <a:rPr lang="en-US" sz="7200" dirty="0">
                  <a:solidFill>
                    <a:srgbClr val="FFFFFF"/>
                  </a:solidFill>
                  <a:latin typeface="Montserrat SemiBold" panose="00000700000000000000" pitchFamily="2" charset="0"/>
                  <a:ea typeface="Inter Bold" pitchFamily="34"/>
                  <a:cs typeface="Inter Bold" pitchFamily="34"/>
                </a:rPr>
                <a:t>odel</a:t>
              </a:r>
              <a:endParaRPr lang="en-US" sz="7200" dirty="0">
                <a:solidFill>
                  <a:srgbClr val="FFFFFF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9" name="Text 0">
              <a:extLst>
                <a:ext uri="{FF2B5EF4-FFF2-40B4-BE49-F238E27FC236}">
                  <a16:creationId xmlns:a16="http://schemas.microsoft.com/office/drawing/2014/main" id="{3FB9C56C-E418-5901-29E2-0B8060D63E11}"/>
                </a:ext>
              </a:extLst>
            </p:cNvPr>
            <p:cNvSpPr/>
            <p:nvPr/>
          </p:nvSpPr>
          <p:spPr>
            <a:xfrm>
              <a:off x="3928154" y="3485708"/>
              <a:ext cx="4102754" cy="703234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defTabSz="762038">
                <a:lnSpc>
                  <a:spcPts val="4626"/>
                </a:lnSpc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7200" b="1" dirty="0">
                  <a:solidFill>
                    <a:srgbClr val="D5522B"/>
                  </a:solidFill>
                  <a:latin typeface="Montserrat SemiBold" panose="00000700000000000000" pitchFamily="2" charset="0"/>
                  <a:ea typeface="Inter Bold" pitchFamily="34"/>
                  <a:cs typeface="Inter Bold" pitchFamily="34"/>
                </a:rPr>
                <a:t>C</a:t>
              </a:r>
              <a:r>
                <a:rPr lang="en-US" sz="7200" dirty="0">
                  <a:solidFill>
                    <a:srgbClr val="FFFFFF"/>
                  </a:solidFill>
                  <a:latin typeface="Montserrat SemiBold" panose="00000700000000000000" pitchFamily="2" charset="0"/>
                  <a:ea typeface="Inter Bold" pitchFamily="34"/>
                  <a:cs typeface="Inter Bold" pitchFamily="34"/>
                </a:rPr>
                <a:t>ontext</a:t>
              </a:r>
              <a:endParaRPr lang="en-US" sz="7200" dirty="0">
                <a:solidFill>
                  <a:srgbClr val="FFFFFF"/>
                </a:solidFill>
                <a:latin typeface="Montserrat SemiBold" panose="00000700000000000000" pitchFamily="2" charset="0"/>
              </a:endParaRPr>
            </a:p>
          </p:txBody>
        </p:sp>
        <p:sp>
          <p:nvSpPr>
            <p:cNvPr id="10" name="Text 0">
              <a:extLst>
                <a:ext uri="{FF2B5EF4-FFF2-40B4-BE49-F238E27FC236}">
                  <a16:creationId xmlns:a16="http://schemas.microsoft.com/office/drawing/2014/main" id="{1C7A6649-3B9E-9D21-65F9-A795B7CCEB46}"/>
                </a:ext>
              </a:extLst>
            </p:cNvPr>
            <p:cNvSpPr/>
            <p:nvPr/>
          </p:nvSpPr>
          <p:spPr>
            <a:xfrm>
              <a:off x="3928154" y="4501190"/>
              <a:ext cx="4102754" cy="703234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defTabSz="762038">
                <a:lnSpc>
                  <a:spcPts val="4626"/>
                </a:lnSpc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7200" b="1" dirty="0">
                  <a:solidFill>
                    <a:srgbClr val="D5522B"/>
                  </a:solidFill>
                  <a:latin typeface="Montserrat SemiBold" panose="00000700000000000000" pitchFamily="2" charset="0"/>
                  <a:ea typeface="Inter Bold" pitchFamily="34"/>
                </a:rPr>
                <a:t>P</a:t>
              </a:r>
              <a:r>
                <a:rPr lang="en-US" sz="7200" dirty="0">
                  <a:solidFill>
                    <a:srgbClr val="FFFFFF"/>
                  </a:solidFill>
                  <a:latin typeface="Montserrat SemiBold" panose="00000700000000000000" pitchFamily="2" charset="0"/>
                  <a:ea typeface="Inter Bold" pitchFamily="34"/>
                </a:rPr>
                <a:t>rotocol</a:t>
              </a:r>
              <a:endParaRPr lang="en-US" sz="7200" dirty="0">
                <a:solidFill>
                  <a:srgbClr val="FFFFFF"/>
                </a:solidFill>
                <a:latin typeface="Montserrat SemiBold" panose="00000700000000000000" pitchFamily="2" charset="0"/>
              </a:endParaRPr>
            </a:p>
          </p:txBody>
        </p: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65215054-3238-7D1F-844E-5F339C9E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is MCP </a:t>
            </a:r>
            <a:br>
              <a:rPr lang="en-GB" dirty="0"/>
            </a:br>
            <a:r>
              <a:rPr lang="en-GB" dirty="0"/>
              <a:t>(yet another protocol)</a:t>
            </a:r>
          </a:p>
        </p:txBody>
      </p:sp>
    </p:spTree>
    <p:extLst>
      <p:ext uri="{BB962C8B-B14F-4D97-AF65-F5344CB8AC3E}">
        <p14:creationId xmlns:p14="http://schemas.microsoft.com/office/powerpoint/2010/main" val="2324534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1B83D-A6B3-4BF2-09DB-6C9A1262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4D150E8F-A44C-C916-C2F0-CE0E91317A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4519" y="1057328"/>
            <a:ext cx="12142961" cy="474334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11057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AB8D7-7FD7-7FA6-7057-B0963666A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2">
            <a:extLst>
              <a:ext uri="{FF2B5EF4-FFF2-40B4-BE49-F238E27FC236}">
                <a16:creationId xmlns:a16="http://schemas.microsoft.com/office/drawing/2014/main" id="{FA1BC6E1-5E7E-56C3-D140-C99F915B2BC3}"/>
              </a:ext>
            </a:extLst>
          </p:cNvPr>
          <p:cNvSpPr/>
          <p:nvPr/>
        </p:nvSpPr>
        <p:spPr>
          <a:xfrm>
            <a:off x="598239" y="1773742"/>
            <a:ext cx="3026435" cy="848266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7CA66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>
                <a:solidFill>
                  <a:srgbClr val="FFFFFF"/>
                </a:solidFill>
                <a:latin typeface="Calibri"/>
              </a:rPr>
              <a:t>JSON-RPC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9030431-1273-5F0C-ECE7-F81A52661C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478"/>
          <a:stretch>
            <a:fillRect/>
          </a:stretch>
        </p:blipFill>
        <p:spPr>
          <a:xfrm>
            <a:off x="598239" y="2817960"/>
            <a:ext cx="3026435" cy="252908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9A4DF6AD-A61F-2096-6897-34528CB16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773" y="2817960"/>
            <a:ext cx="2656455" cy="335106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Rectangle: Rounded Corners 7">
            <a:extLst>
              <a:ext uri="{FF2B5EF4-FFF2-40B4-BE49-F238E27FC236}">
                <a16:creationId xmlns:a16="http://schemas.microsoft.com/office/drawing/2014/main" id="{662EE6B5-C1C4-F72D-8EC8-FA2A7D541E79}"/>
              </a:ext>
            </a:extLst>
          </p:cNvPr>
          <p:cNvSpPr/>
          <p:nvPr/>
        </p:nvSpPr>
        <p:spPr>
          <a:xfrm>
            <a:off x="4582782" y="1773742"/>
            <a:ext cx="3026435" cy="848266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D5522B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>
                <a:solidFill>
                  <a:srgbClr val="FFFFFF"/>
                </a:solidFill>
                <a:latin typeface="Calibri"/>
              </a:rPr>
              <a:t>Lifecycle</a:t>
            </a:r>
          </a:p>
        </p:txBody>
      </p:sp>
      <p:sp>
        <p:nvSpPr>
          <p:cNvPr id="12" name="Rectangle: Rounded Corners 8">
            <a:extLst>
              <a:ext uri="{FF2B5EF4-FFF2-40B4-BE49-F238E27FC236}">
                <a16:creationId xmlns:a16="http://schemas.microsoft.com/office/drawing/2014/main" id="{440D37F6-76FA-F666-0335-661E8DF6B43B}"/>
              </a:ext>
            </a:extLst>
          </p:cNvPr>
          <p:cNvSpPr/>
          <p:nvPr/>
        </p:nvSpPr>
        <p:spPr>
          <a:xfrm>
            <a:off x="8567327" y="1773742"/>
            <a:ext cx="3026435" cy="848266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7B3AD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>
                <a:solidFill>
                  <a:srgbClr val="FFFFFF"/>
                </a:solidFill>
                <a:latin typeface="Calibri"/>
              </a:rPr>
              <a:t>Transport</a:t>
            </a:r>
          </a:p>
        </p:txBody>
      </p:sp>
      <p:sp>
        <p:nvSpPr>
          <p:cNvPr id="13" name="Rectangle: Rounded Corners 9">
            <a:extLst>
              <a:ext uri="{FF2B5EF4-FFF2-40B4-BE49-F238E27FC236}">
                <a16:creationId xmlns:a16="http://schemas.microsoft.com/office/drawing/2014/main" id="{8CE9FC5D-3218-31DB-A5A3-EDC1FD20F10A}"/>
              </a:ext>
            </a:extLst>
          </p:cNvPr>
          <p:cNvSpPr/>
          <p:nvPr/>
        </p:nvSpPr>
        <p:spPr>
          <a:xfrm>
            <a:off x="8567326" y="2817960"/>
            <a:ext cx="1381803" cy="848266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7B3AD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>
                <a:solidFill>
                  <a:srgbClr val="FFFFFF"/>
                </a:solidFill>
                <a:latin typeface="Calibri"/>
              </a:rPr>
              <a:t>stdio</a:t>
            </a:r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0F9CE6C3-F5E2-3049-C76B-EF0F5C91515E}"/>
              </a:ext>
            </a:extLst>
          </p:cNvPr>
          <p:cNvSpPr/>
          <p:nvPr/>
        </p:nvSpPr>
        <p:spPr>
          <a:xfrm>
            <a:off x="10207927" y="2817960"/>
            <a:ext cx="1381803" cy="848266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37B3AD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>
                <a:solidFill>
                  <a:srgbClr val="FFFFFF"/>
                </a:solidFill>
                <a:latin typeface="Calibri"/>
              </a:rPr>
              <a:t>Streamable HTTP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E9BF684-B44D-6A28-F199-EF1CB819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MCP Protocol</a:t>
            </a:r>
          </a:p>
        </p:txBody>
      </p:sp>
      <p:sp>
        <p:nvSpPr>
          <p:cNvPr id="2" name="Rectangle: Rounded Corners 10">
            <a:extLst>
              <a:ext uri="{FF2B5EF4-FFF2-40B4-BE49-F238E27FC236}">
                <a16:creationId xmlns:a16="http://schemas.microsoft.com/office/drawing/2014/main" id="{06A0CA32-8FEA-7113-88B0-A181078EBC79}"/>
              </a:ext>
            </a:extLst>
          </p:cNvPr>
          <p:cNvSpPr/>
          <p:nvPr/>
        </p:nvSpPr>
        <p:spPr>
          <a:xfrm>
            <a:off x="10207927" y="3862178"/>
            <a:ext cx="1381803" cy="848266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DC5CC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SSE</a:t>
            </a:r>
          </a:p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dirty="0">
                <a:solidFill>
                  <a:srgbClr val="FFFFFF"/>
                </a:solidFill>
                <a:latin typeface="Calibri"/>
              </a:rPr>
              <a:t>(deprecated)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F4B646-FCD4-B072-CE54-E4E940177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217" y="3960122"/>
            <a:ext cx="380939" cy="38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664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35AA0-A412-4246-F844-DA0F1DDE3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62102596-5F6D-95C5-1801-7C3FF5AB6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730" y="1110622"/>
            <a:ext cx="7257732" cy="4919046"/>
          </a:xfrm>
          <a:prstGeom prst="rect">
            <a:avLst/>
          </a:prstGeom>
          <a:noFill/>
          <a:ln cap="flat">
            <a:solidFill>
              <a:srgbClr val="F7CA66"/>
            </a:solidFill>
          </a:ln>
        </p:spPr>
      </p:pic>
    </p:spTree>
    <p:extLst>
      <p:ext uri="{BB962C8B-B14F-4D97-AF65-F5344CB8AC3E}">
        <p14:creationId xmlns:p14="http://schemas.microsoft.com/office/powerpoint/2010/main" val="376929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B2DD-E454-A326-E97B-E96C5BC64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15A05929-2CAC-E0E9-517C-6B87EE5F7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102554"/>
            <a:ext cx="9775462" cy="4395353"/>
          </a:xfrm>
          <a:prstGeom prst="rect">
            <a:avLst/>
          </a:prstGeom>
          <a:noFill/>
          <a:ln cap="flat">
            <a:solidFill>
              <a:srgbClr val="F7CA66"/>
            </a:solidFill>
          </a:ln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A8E69E86-420D-9EC6-4A67-06A6DFAB066B}"/>
              </a:ext>
            </a:extLst>
          </p:cNvPr>
          <p:cNvSpPr txBox="1"/>
          <p:nvPr/>
        </p:nvSpPr>
        <p:spPr>
          <a:xfrm>
            <a:off x="1055440" y="5851399"/>
            <a:ext cx="9775462" cy="53860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1" compatLnSpc="1">
            <a:sp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1" dirty="0">
                <a:solidFill>
                  <a:schemeClr val="bg1"/>
                </a:solidFill>
                <a:latin typeface="Calibri"/>
              </a:rPr>
              <a:t>Anthropic “Introduction to MCP” Couse</a:t>
            </a:r>
          </a:p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dirty="0">
                <a:solidFill>
                  <a:schemeClr val="bg1"/>
                </a:solidFill>
                <a:latin typeface="Calibri"/>
              </a:rPr>
              <a:t>https://anthropic.skilljar.com/introduction-to-model-context-protocol/</a:t>
            </a:r>
          </a:p>
        </p:txBody>
      </p:sp>
    </p:spTree>
    <p:extLst>
      <p:ext uri="{BB962C8B-B14F-4D97-AF65-F5344CB8AC3E}">
        <p14:creationId xmlns:p14="http://schemas.microsoft.com/office/powerpoint/2010/main" val="4084415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CEF47-2C33-C429-6B65-6A6B8F6FA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>
            <a:extLst>
              <a:ext uri="{FF2B5EF4-FFF2-40B4-BE49-F238E27FC236}">
                <a16:creationId xmlns:a16="http://schemas.microsoft.com/office/drawing/2014/main" id="{708B9A0F-AF94-D98B-5F2A-E23844F4BCA0}"/>
              </a:ext>
            </a:extLst>
          </p:cNvPr>
          <p:cNvSpPr/>
          <p:nvPr/>
        </p:nvSpPr>
        <p:spPr>
          <a:xfrm>
            <a:off x="276857" y="1545565"/>
            <a:ext cx="3573788" cy="4722959"/>
          </a:xfrm>
          <a:prstGeom prst="rect">
            <a:avLst/>
          </a:prstGeom>
          <a:solidFill>
            <a:srgbClr val="F7CA66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925E81BF-E68D-51AF-3479-E33FE5B9C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633" y="1724346"/>
            <a:ext cx="309600" cy="3096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A6F4407-3BB4-EF79-1363-03EFBB799BCF}"/>
              </a:ext>
            </a:extLst>
          </p:cNvPr>
          <p:cNvSpPr txBox="1"/>
          <p:nvPr/>
        </p:nvSpPr>
        <p:spPr>
          <a:xfrm>
            <a:off x="282474" y="1571747"/>
            <a:ext cx="1293959" cy="5900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334" dirty="0">
                <a:solidFill>
                  <a:srgbClr val="000000"/>
                </a:solidFill>
                <a:latin typeface="Calibri"/>
              </a:rPr>
              <a:t>Tools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78DF9A01-B342-5E4B-2348-1B50E87E9558}"/>
              </a:ext>
            </a:extLst>
          </p:cNvPr>
          <p:cNvSpPr txBox="1"/>
          <p:nvPr/>
        </p:nvSpPr>
        <p:spPr>
          <a:xfrm>
            <a:off x="354360" y="2114261"/>
            <a:ext cx="3378678" cy="28206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dirty="0">
                <a:solidFill>
                  <a:srgbClr val="000000"/>
                </a:solidFill>
                <a:latin typeface="Calibri"/>
              </a:rPr>
              <a:t>Functions exposed to the LLM to take actions</a:t>
            </a:r>
          </a:p>
        </p:txBody>
      </p:sp>
      <p:pic>
        <p:nvPicPr>
          <p:cNvPr id="15" name="Picture 18">
            <a:extLst>
              <a:ext uri="{FF2B5EF4-FFF2-40B4-BE49-F238E27FC236}">
                <a16:creationId xmlns:a16="http://schemas.microsoft.com/office/drawing/2014/main" id="{8561021A-243C-E5A9-F8C0-4B607930D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38" y="2419015"/>
            <a:ext cx="239999" cy="23999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TextBox 22">
            <a:extLst>
              <a:ext uri="{FF2B5EF4-FFF2-40B4-BE49-F238E27FC236}">
                <a16:creationId xmlns:a16="http://schemas.microsoft.com/office/drawing/2014/main" id="{32BFB888-0277-7D2D-4DF6-FCDEF57CC7F0}"/>
              </a:ext>
            </a:extLst>
          </p:cNvPr>
          <p:cNvSpPr txBox="1"/>
          <p:nvPr/>
        </p:nvSpPr>
        <p:spPr>
          <a:xfrm>
            <a:off x="580804" y="2418436"/>
            <a:ext cx="1948129" cy="2308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dirty="0">
                <a:solidFill>
                  <a:srgbClr val="000000"/>
                </a:solidFill>
                <a:latin typeface="Calibri"/>
              </a:rPr>
              <a:t>API POST requests, file writing</a:t>
            </a:r>
          </a:p>
        </p:txBody>
      </p:sp>
      <p:pic>
        <p:nvPicPr>
          <p:cNvPr id="17" name="Picture 24">
            <a:extLst>
              <a:ext uri="{FF2B5EF4-FFF2-40B4-BE49-F238E27FC236}">
                <a16:creationId xmlns:a16="http://schemas.microsoft.com/office/drawing/2014/main" id="{42E3A1CB-6EED-D495-7DAD-92AC606DF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79" y="2833207"/>
            <a:ext cx="3346559" cy="3011903"/>
          </a:xfrm>
          <a:prstGeom prst="rect">
            <a:avLst/>
          </a:prstGeom>
          <a:noFill/>
          <a:ln cap="flat">
            <a:solidFill>
              <a:schemeClr val="bg1">
                <a:lumMod val="50000"/>
              </a:schemeClr>
            </a:solidFill>
          </a:ln>
        </p:spPr>
      </p:pic>
      <p:sp>
        <p:nvSpPr>
          <p:cNvPr id="18" name="Rectangle 39">
            <a:extLst>
              <a:ext uri="{FF2B5EF4-FFF2-40B4-BE49-F238E27FC236}">
                <a16:creationId xmlns:a16="http://schemas.microsoft.com/office/drawing/2014/main" id="{B20B13C6-0E1F-9D3A-FE63-B6758EAC3DCB}"/>
              </a:ext>
            </a:extLst>
          </p:cNvPr>
          <p:cNvSpPr/>
          <p:nvPr/>
        </p:nvSpPr>
        <p:spPr>
          <a:xfrm>
            <a:off x="4309102" y="1545565"/>
            <a:ext cx="3573788" cy="472295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41">
            <a:extLst>
              <a:ext uri="{FF2B5EF4-FFF2-40B4-BE49-F238E27FC236}">
                <a16:creationId xmlns:a16="http://schemas.microsoft.com/office/drawing/2014/main" id="{6038E0ED-D794-85B3-58B7-32D669195AEA}"/>
              </a:ext>
            </a:extLst>
          </p:cNvPr>
          <p:cNvSpPr txBox="1"/>
          <p:nvPr/>
        </p:nvSpPr>
        <p:spPr>
          <a:xfrm>
            <a:off x="4314718" y="1571747"/>
            <a:ext cx="2246459" cy="5900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334" dirty="0">
                <a:solidFill>
                  <a:srgbClr val="000000"/>
                </a:solidFill>
                <a:latin typeface="Calibri"/>
              </a:rPr>
              <a:t>Resources</a:t>
            </a:r>
          </a:p>
        </p:txBody>
      </p:sp>
      <p:sp>
        <p:nvSpPr>
          <p:cNvPr id="20" name="TextBox 42">
            <a:extLst>
              <a:ext uri="{FF2B5EF4-FFF2-40B4-BE49-F238E27FC236}">
                <a16:creationId xmlns:a16="http://schemas.microsoft.com/office/drawing/2014/main" id="{48F8E72F-4BB5-481B-DA33-8C592A94CCE0}"/>
              </a:ext>
            </a:extLst>
          </p:cNvPr>
          <p:cNvSpPr txBox="1"/>
          <p:nvPr/>
        </p:nvSpPr>
        <p:spPr>
          <a:xfrm>
            <a:off x="4386605" y="2092285"/>
            <a:ext cx="3378678" cy="48718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dirty="0">
                <a:solidFill>
                  <a:srgbClr val="000000"/>
                </a:solidFill>
                <a:latin typeface="Calibri"/>
              </a:rPr>
              <a:t>Contextual data attached and managed by the client</a:t>
            </a:r>
          </a:p>
        </p:txBody>
      </p:sp>
      <p:pic>
        <p:nvPicPr>
          <p:cNvPr id="21" name="Picture 43">
            <a:extLst>
              <a:ext uri="{FF2B5EF4-FFF2-40B4-BE49-F238E27FC236}">
                <a16:creationId xmlns:a16="http://schemas.microsoft.com/office/drawing/2014/main" id="{F84D6E4A-22B6-F75E-3008-8E98734AB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790" y="2609522"/>
            <a:ext cx="239999" cy="23999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Box 44">
            <a:extLst>
              <a:ext uri="{FF2B5EF4-FFF2-40B4-BE49-F238E27FC236}">
                <a16:creationId xmlns:a16="http://schemas.microsoft.com/office/drawing/2014/main" id="{608BCEA0-A353-C19F-226F-FFBE97C7DBE0}"/>
              </a:ext>
            </a:extLst>
          </p:cNvPr>
          <p:cNvSpPr txBox="1"/>
          <p:nvPr/>
        </p:nvSpPr>
        <p:spPr>
          <a:xfrm>
            <a:off x="4613056" y="2608943"/>
            <a:ext cx="1948129" cy="2308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dirty="0">
                <a:solidFill>
                  <a:srgbClr val="000000"/>
                </a:solidFill>
                <a:latin typeface="Calibri"/>
              </a:rPr>
              <a:t>File contents, git history</a:t>
            </a:r>
          </a:p>
        </p:txBody>
      </p:sp>
      <p:pic>
        <p:nvPicPr>
          <p:cNvPr id="23" name="Picture 47">
            <a:extLst>
              <a:ext uri="{FF2B5EF4-FFF2-40B4-BE49-F238E27FC236}">
                <a16:creationId xmlns:a16="http://schemas.microsoft.com/office/drawing/2014/main" id="{F9243D45-8835-C01E-B297-ACEC96ACA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4930" y="1724346"/>
            <a:ext cx="383446" cy="38344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Picture 49">
            <a:extLst>
              <a:ext uri="{FF2B5EF4-FFF2-40B4-BE49-F238E27FC236}">
                <a16:creationId xmlns:a16="http://schemas.microsoft.com/office/drawing/2014/main" id="{77BBDEE1-098D-E879-E67C-1ABFA9D8A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6790" y="3010388"/>
            <a:ext cx="3374296" cy="2653322"/>
          </a:xfrm>
          <a:prstGeom prst="rect">
            <a:avLst/>
          </a:prstGeom>
          <a:noFill/>
          <a:ln cap="flat">
            <a:solidFill>
              <a:schemeClr val="bg1">
                <a:lumMod val="50000"/>
              </a:schemeClr>
            </a:solidFill>
          </a:ln>
        </p:spPr>
      </p:pic>
      <p:sp>
        <p:nvSpPr>
          <p:cNvPr id="25" name="Rectangle 50">
            <a:extLst>
              <a:ext uri="{FF2B5EF4-FFF2-40B4-BE49-F238E27FC236}">
                <a16:creationId xmlns:a16="http://schemas.microsoft.com/office/drawing/2014/main" id="{797D48DC-6564-7079-F2BC-2C35BD7F85F1}"/>
              </a:ext>
            </a:extLst>
          </p:cNvPr>
          <p:cNvSpPr/>
          <p:nvPr/>
        </p:nvSpPr>
        <p:spPr>
          <a:xfrm>
            <a:off x="8341355" y="1545565"/>
            <a:ext cx="3573788" cy="4722959"/>
          </a:xfrm>
          <a:prstGeom prst="rect">
            <a:avLst/>
          </a:prstGeom>
          <a:solidFill>
            <a:srgbClr val="37B3AD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51">
            <a:extLst>
              <a:ext uri="{FF2B5EF4-FFF2-40B4-BE49-F238E27FC236}">
                <a16:creationId xmlns:a16="http://schemas.microsoft.com/office/drawing/2014/main" id="{59ACD069-DA83-E508-BE1B-742E6AE2F693}"/>
              </a:ext>
            </a:extLst>
          </p:cNvPr>
          <p:cNvSpPr txBox="1"/>
          <p:nvPr/>
        </p:nvSpPr>
        <p:spPr>
          <a:xfrm>
            <a:off x="8346971" y="1571747"/>
            <a:ext cx="2246459" cy="5900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334" dirty="0">
                <a:solidFill>
                  <a:srgbClr val="000000"/>
                </a:solidFill>
                <a:latin typeface="Calibri"/>
              </a:rPr>
              <a:t>Prompts</a:t>
            </a:r>
          </a:p>
        </p:txBody>
      </p:sp>
      <p:sp>
        <p:nvSpPr>
          <p:cNvPr id="27" name="TextBox 52">
            <a:extLst>
              <a:ext uri="{FF2B5EF4-FFF2-40B4-BE49-F238E27FC236}">
                <a16:creationId xmlns:a16="http://schemas.microsoft.com/office/drawing/2014/main" id="{F51D11B9-8609-3719-240C-15CFF51D343B}"/>
              </a:ext>
            </a:extLst>
          </p:cNvPr>
          <p:cNvSpPr txBox="1"/>
          <p:nvPr/>
        </p:nvSpPr>
        <p:spPr>
          <a:xfrm>
            <a:off x="8418858" y="2092285"/>
            <a:ext cx="3378678" cy="28206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dirty="0">
                <a:solidFill>
                  <a:srgbClr val="000000"/>
                </a:solidFill>
                <a:latin typeface="Calibri"/>
              </a:rPr>
              <a:t>Interactive templates invoked by user choice</a:t>
            </a:r>
          </a:p>
        </p:txBody>
      </p:sp>
      <p:pic>
        <p:nvPicPr>
          <p:cNvPr id="28" name="Picture 53">
            <a:extLst>
              <a:ext uri="{FF2B5EF4-FFF2-40B4-BE49-F238E27FC236}">
                <a16:creationId xmlns:a16="http://schemas.microsoft.com/office/drawing/2014/main" id="{F0388CA3-1758-2E8F-5B2D-E44F02658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043" y="2426346"/>
            <a:ext cx="239999" cy="23999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9" name="TextBox 54">
            <a:extLst>
              <a:ext uri="{FF2B5EF4-FFF2-40B4-BE49-F238E27FC236}">
                <a16:creationId xmlns:a16="http://schemas.microsoft.com/office/drawing/2014/main" id="{878723BD-3BBD-8AE0-8AE8-3EAE7779BA04}"/>
              </a:ext>
            </a:extLst>
          </p:cNvPr>
          <p:cNvSpPr txBox="1"/>
          <p:nvPr/>
        </p:nvSpPr>
        <p:spPr>
          <a:xfrm>
            <a:off x="8645301" y="2425767"/>
            <a:ext cx="1948129" cy="2308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Calibri"/>
              </a:rPr>
              <a:t>Slash commands, menu options</a:t>
            </a:r>
          </a:p>
        </p:txBody>
      </p:sp>
      <p:pic>
        <p:nvPicPr>
          <p:cNvPr id="30" name="Picture 58">
            <a:extLst>
              <a:ext uri="{FF2B5EF4-FFF2-40B4-BE49-F238E27FC236}">
                <a16:creationId xmlns:a16="http://schemas.microsoft.com/office/drawing/2014/main" id="{F77147AC-0039-B5EA-9120-023449D02F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8197" y="1724346"/>
            <a:ext cx="347601" cy="34760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1" name="Picture 60">
            <a:extLst>
              <a:ext uri="{FF2B5EF4-FFF2-40B4-BE49-F238E27FC236}">
                <a16:creationId xmlns:a16="http://schemas.microsoft.com/office/drawing/2014/main" id="{162C1760-94AA-438E-BD38-DBFC860E40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8858" y="3010388"/>
            <a:ext cx="3378601" cy="2003237"/>
          </a:xfrm>
          <a:prstGeom prst="rect">
            <a:avLst/>
          </a:prstGeom>
          <a:noFill/>
          <a:ln cap="flat">
            <a:solidFill>
              <a:schemeClr val="bg1">
                <a:lumMod val="50000"/>
              </a:schemeClr>
            </a:solidFill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6B67946-2D41-649F-22EB-B66552DCA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MCP Server Features</a:t>
            </a:r>
          </a:p>
        </p:txBody>
      </p:sp>
    </p:spTree>
    <p:extLst>
      <p:ext uri="{BB962C8B-B14F-4D97-AF65-F5344CB8AC3E}">
        <p14:creationId xmlns:p14="http://schemas.microsoft.com/office/powerpoint/2010/main" val="3898487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AFC74-BF21-14CB-3718-456867DA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08431758-45E8-51B0-8FC5-E47EEE2665F5}"/>
              </a:ext>
            </a:extLst>
          </p:cNvPr>
          <p:cNvSpPr/>
          <p:nvPr/>
        </p:nvSpPr>
        <p:spPr>
          <a:xfrm>
            <a:off x="276858" y="1545565"/>
            <a:ext cx="3573787" cy="4722959"/>
          </a:xfrm>
          <a:prstGeom prst="rect">
            <a:avLst/>
          </a:prstGeom>
          <a:solidFill>
            <a:srgbClr val="F7CA66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F152875A-8DF1-E49E-054C-B46A5B97A0B0}"/>
              </a:ext>
            </a:extLst>
          </p:cNvPr>
          <p:cNvSpPr txBox="1"/>
          <p:nvPr/>
        </p:nvSpPr>
        <p:spPr>
          <a:xfrm>
            <a:off x="282475" y="1571747"/>
            <a:ext cx="1293959" cy="5900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334">
                <a:solidFill>
                  <a:srgbClr val="000000"/>
                </a:solidFill>
                <a:latin typeface="Calibri"/>
              </a:rPr>
              <a:t>Roots</a:t>
            </a: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2351B551-3146-6EED-0D23-FA9E60B8BF10}"/>
              </a:ext>
            </a:extLst>
          </p:cNvPr>
          <p:cNvSpPr txBox="1"/>
          <p:nvPr/>
        </p:nvSpPr>
        <p:spPr>
          <a:xfrm>
            <a:off x="354361" y="2114261"/>
            <a:ext cx="3378677" cy="48718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 dirty="0">
                <a:solidFill>
                  <a:srgbClr val="000000"/>
                </a:solidFill>
                <a:latin typeface="Calibri"/>
              </a:rPr>
              <a:t>Clients can expose filesystem “roots” to servers.</a:t>
            </a:r>
          </a:p>
        </p:txBody>
      </p:sp>
      <p:pic>
        <p:nvPicPr>
          <p:cNvPr id="11" name="Picture 18">
            <a:extLst>
              <a:ext uri="{FF2B5EF4-FFF2-40B4-BE49-F238E27FC236}">
                <a16:creationId xmlns:a16="http://schemas.microsoft.com/office/drawing/2014/main" id="{36C926C8-9E3D-43A0-2FF3-03772D3A0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39" y="2584355"/>
            <a:ext cx="239999" cy="23999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TextBox 22">
            <a:extLst>
              <a:ext uri="{FF2B5EF4-FFF2-40B4-BE49-F238E27FC236}">
                <a16:creationId xmlns:a16="http://schemas.microsoft.com/office/drawing/2014/main" id="{477A3E3D-35E2-4F0C-4726-60B5F7D9E0BD}"/>
              </a:ext>
            </a:extLst>
          </p:cNvPr>
          <p:cNvSpPr txBox="1"/>
          <p:nvPr/>
        </p:nvSpPr>
        <p:spPr>
          <a:xfrm>
            <a:off x="580804" y="2583774"/>
            <a:ext cx="1948129" cy="3847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Calibri"/>
              </a:rPr>
              <a:t>/your-project</a:t>
            </a:r>
          </a:p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Calibri"/>
              </a:rPr>
              <a:t>/temp</a:t>
            </a:r>
          </a:p>
        </p:txBody>
      </p:sp>
      <p:sp>
        <p:nvSpPr>
          <p:cNvPr id="13" name="Rectangle 39">
            <a:extLst>
              <a:ext uri="{FF2B5EF4-FFF2-40B4-BE49-F238E27FC236}">
                <a16:creationId xmlns:a16="http://schemas.microsoft.com/office/drawing/2014/main" id="{144123F6-B2F7-81D4-4724-CBF3E6518C73}"/>
              </a:ext>
            </a:extLst>
          </p:cNvPr>
          <p:cNvSpPr/>
          <p:nvPr/>
        </p:nvSpPr>
        <p:spPr>
          <a:xfrm>
            <a:off x="4309103" y="1545565"/>
            <a:ext cx="3573787" cy="4722959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41">
            <a:extLst>
              <a:ext uri="{FF2B5EF4-FFF2-40B4-BE49-F238E27FC236}">
                <a16:creationId xmlns:a16="http://schemas.microsoft.com/office/drawing/2014/main" id="{A216A79D-CEDE-C9CD-BF3A-F5AC72A1E979}"/>
              </a:ext>
            </a:extLst>
          </p:cNvPr>
          <p:cNvSpPr txBox="1"/>
          <p:nvPr/>
        </p:nvSpPr>
        <p:spPr>
          <a:xfrm>
            <a:off x="4314719" y="1571747"/>
            <a:ext cx="2246459" cy="5900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334">
                <a:solidFill>
                  <a:srgbClr val="000000"/>
                </a:solidFill>
                <a:latin typeface="Calibri"/>
              </a:rPr>
              <a:t>Sampling</a:t>
            </a:r>
          </a:p>
        </p:txBody>
      </p:sp>
      <p:sp>
        <p:nvSpPr>
          <p:cNvPr id="15" name="TextBox 42">
            <a:extLst>
              <a:ext uri="{FF2B5EF4-FFF2-40B4-BE49-F238E27FC236}">
                <a16:creationId xmlns:a16="http://schemas.microsoft.com/office/drawing/2014/main" id="{A05C65B6-6A08-A5EC-6BC0-338C1F66AF49}"/>
              </a:ext>
            </a:extLst>
          </p:cNvPr>
          <p:cNvSpPr txBox="1"/>
          <p:nvPr/>
        </p:nvSpPr>
        <p:spPr>
          <a:xfrm>
            <a:off x="4386606" y="2092285"/>
            <a:ext cx="3378677" cy="6923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>
                <a:solidFill>
                  <a:srgbClr val="000000"/>
                </a:solidFill>
                <a:latin typeface="Calibri"/>
              </a:rPr>
              <a:t>Servers can request LLM sampling (“completions” or “generations”) from language models via clients.</a:t>
            </a:r>
          </a:p>
        </p:txBody>
      </p:sp>
      <p:pic>
        <p:nvPicPr>
          <p:cNvPr id="16" name="Picture 43">
            <a:extLst>
              <a:ext uri="{FF2B5EF4-FFF2-40B4-BE49-F238E27FC236}">
                <a16:creationId xmlns:a16="http://schemas.microsoft.com/office/drawing/2014/main" id="{AC47B2B1-651F-9C3B-9D97-EAC3544E3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791" y="2782048"/>
            <a:ext cx="239999" cy="23999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TextBox 44">
            <a:extLst>
              <a:ext uri="{FF2B5EF4-FFF2-40B4-BE49-F238E27FC236}">
                <a16:creationId xmlns:a16="http://schemas.microsoft.com/office/drawing/2014/main" id="{30BE3C8A-B910-671E-0327-B9E56B57E708}"/>
              </a:ext>
            </a:extLst>
          </p:cNvPr>
          <p:cNvSpPr txBox="1"/>
          <p:nvPr/>
        </p:nvSpPr>
        <p:spPr>
          <a:xfrm>
            <a:off x="4613056" y="2781468"/>
            <a:ext cx="1948129" cy="53860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Calibri"/>
              </a:rPr>
              <a:t>Hey LLM, please summarise this user query in a Keyword Query Language format.</a:t>
            </a:r>
          </a:p>
        </p:txBody>
      </p:sp>
      <p:sp>
        <p:nvSpPr>
          <p:cNvPr id="18" name="Rectangle 50">
            <a:extLst>
              <a:ext uri="{FF2B5EF4-FFF2-40B4-BE49-F238E27FC236}">
                <a16:creationId xmlns:a16="http://schemas.microsoft.com/office/drawing/2014/main" id="{068674A7-172A-ADCC-FEF4-7267105B00F9}"/>
              </a:ext>
            </a:extLst>
          </p:cNvPr>
          <p:cNvSpPr/>
          <p:nvPr/>
        </p:nvSpPr>
        <p:spPr>
          <a:xfrm>
            <a:off x="8341355" y="1545565"/>
            <a:ext cx="3573787" cy="4722959"/>
          </a:xfrm>
          <a:prstGeom prst="rect">
            <a:avLst/>
          </a:prstGeom>
          <a:solidFill>
            <a:srgbClr val="37B3AD"/>
          </a:solidFill>
          <a:ln cap="flat">
            <a:noFill/>
            <a:prstDash val="solid"/>
          </a:ln>
        </p:spPr>
        <p:txBody>
          <a:bodyPr vert="horz" wrap="square" lIns="76200" tIns="38100" rIns="76200" bIns="38100" anchor="ctr" anchorCtr="1" compatLnSpc="1">
            <a:noAutofit/>
          </a:bodyPr>
          <a:lstStyle/>
          <a:p>
            <a:pPr algn="ctr"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51">
            <a:extLst>
              <a:ext uri="{FF2B5EF4-FFF2-40B4-BE49-F238E27FC236}">
                <a16:creationId xmlns:a16="http://schemas.microsoft.com/office/drawing/2014/main" id="{AC911CA1-8843-DBA4-6D39-082257B712DE}"/>
              </a:ext>
            </a:extLst>
          </p:cNvPr>
          <p:cNvSpPr txBox="1"/>
          <p:nvPr/>
        </p:nvSpPr>
        <p:spPr>
          <a:xfrm>
            <a:off x="8346972" y="1571747"/>
            <a:ext cx="2246459" cy="5900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334">
                <a:solidFill>
                  <a:srgbClr val="000000"/>
                </a:solidFill>
                <a:latin typeface="Calibri"/>
              </a:rPr>
              <a:t>Elicitation</a:t>
            </a:r>
          </a:p>
        </p:txBody>
      </p:sp>
      <p:sp>
        <p:nvSpPr>
          <p:cNvPr id="20" name="TextBox 52">
            <a:extLst>
              <a:ext uri="{FF2B5EF4-FFF2-40B4-BE49-F238E27FC236}">
                <a16:creationId xmlns:a16="http://schemas.microsoft.com/office/drawing/2014/main" id="{59F049E8-57EC-9B18-F003-20E121571FB8}"/>
              </a:ext>
            </a:extLst>
          </p:cNvPr>
          <p:cNvSpPr txBox="1"/>
          <p:nvPr/>
        </p:nvSpPr>
        <p:spPr>
          <a:xfrm>
            <a:off x="8418858" y="2092285"/>
            <a:ext cx="3378677" cy="48718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333">
                <a:solidFill>
                  <a:srgbClr val="000000"/>
                </a:solidFill>
                <a:latin typeface="Calibri"/>
              </a:rPr>
              <a:t>Servers can request additional information from users through the client</a:t>
            </a:r>
          </a:p>
        </p:txBody>
      </p:sp>
      <p:pic>
        <p:nvPicPr>
          <p:cNvPr id="21" name="Picture 53">
            <a:extLst>
              <a:ext uri="{FF2B5EF4-FFF2-40B4-BE49-F238E27FC236}">
                <a16:creationId xmlns:a16="http://schemas.microsoft.com/office/drawing/2014/main" id="{17B0019D-5007-67DE-B672-F892BD9B2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043" y="2598878"/>
            <a:ext cx="239999" cy="23999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TextBox 54">
            <a:extLst>
              <a:ext uri="{FF2B5EF4-FFF2-40B4-BE49-F238E27FC236}">
                <a16:creationId xmlns:a16="http://schemas.microsoft.com/office/drawing/2014/main" id="{139824D2-47EA-37FF-C4B6-BC337DA8952D}"/>
              </a:ext>
            </a:extLst>
          </p:cNvPr>
          <p:cNvSpPr txBox="1"/>
          <p:nvPr/>
        </p:nvSpPr>
        <p:spPr>
          <a:xfrm>
            <a:off x="8645302" y="2598298"/>
            <a:ext cx="1948129" cy="2308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76200" tIns="38100" rIns="76200" bIns="38100" anchor="t" anchorCtr="0" compatLnSpc="1">
            <a:spAutoFit/>
          </a:bodyPr>
          <a:lstStyle/>
          <a:p>
            <a:pPr defTabSz="762038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>
                <a:solidFill>
                  <a:srgbClr val="000000"/>
                </a:solidFill>
                <a:latin typeface="Calibri"/>
              </a:rPr>
              <a:t>How old are you?</a:t>
            </a: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37C18E8F-DD55-0AD0-3070-885F69106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760" y="1709746"/>
            <a:ext cx="313906" cy="3139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Picture 6">
            <a:extLst>
              <a:ext uri="{FF2B5EF4-FFF2-40B4-BE49-F238E27FC236}">
                <a16:creationId xmlns:a16="http://schemas.microsoft.com/office/drawing/2014/main" id="{8D9BA786-3560-BC34-DE70-F736A40FE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582" y="1716710"/>
            <a:ext cx="306941" cy="30694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8">
            <a:extLst>
              <a:ext uri="{FF2B5EF4-FFF2-40B4-BE49-F238E27FC236}">
                <a16:creationId xmlns:a16="http://schemas.microsoft.com/office/drawing/2014/main" id="{4B0F51A0-FB44-2A9F-C9B0-2B5DF5B4C7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4504" y="1659712"/>
            <a:ext cx="414551" cy="41455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6" name="Picture 10">
            <a:extLst>
              <a:ext uri="{FF2B5EF4-FFF2-40B4-BE49-F238E27FC236}">
                <a16:creationId xmlns:a16="http://schemas.microsoft.com/office/drawing/2014/main" id="{E3713022-2F91-40A0-0B28-2A09599F1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234" y="3127042"/>
            <a:ext cx="2988922" cy="285877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7" name="Picture 14">
            <a:extLst>
              <a:ext uri="{FF2B5EF4-FFF2-40B4-BE49-F238E27FC236}">
                <a16:creationId xmlns:a16="http://schemas.microsoft.com/office/drawing/2014/main" id="{144AD85D-C77C-6EB1-1B82-A278BEF06A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9066" y="3404593"/>
            <a:ext cx="3253763" cy="268739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8" name="Picture 17">
            <a:extLst>
              <a:ext uri="{FF2B5EF4-FFF2-40B4-BE49-F238E27FC236}">
                <a16:creationId xmlns:a16="http://schemas.microsoft.com/office/drawing/2014/main" id="{E457D433-13ED-1560-EF8E-470EC3E2BB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8914" y="3429001"/>
            <a:ext cx="3378677" cy="233222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9" name="Title 28">
            <a:extLst>
              <a:ext uri="{FF2B5EF4-FFF2-40B4-BE49-F238E27FC236}">
                <a16:creationId xmlns:a16="http://schemas.microsoft.com/office/drawing/2014/main" id="{3D46ACD9-858F-A5AD-32D2-63A10FEB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MCP Client Features</a:t>
            </a:r>
          </a:p>
        </p:txBody>
      </p:sp>
    </p:spTree>
    <p:extLst>
      <p:ext uri="{BB962C8B-B14F-4D97-AF65-F5344CB8AC3E}">
        <p14:creationId xmlns:p14="http://schemas.microsoft.com/office/powerpoint/2010/main" val="3034251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63090-B27F-057E-0161-C5328B37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9F024F5-03DC-9955-4FAF-2A0CF1E36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MCP Authorization</a:t>
            </a:r>
          </a:p>
        </p:txBody>
      </p:sp>
      <p:pic>
        <p:nvPicPr>
          <p:cNvPr id="1026" name="Picture 2" descr="Using on-behalf-of flow for Entra-based MCP servers | Microsoft Community  Hub">
            <a:extLst>
              <a:ext uri="{FF2B5EF4-FFF2-40B4-BE49-F238E27FC236}">
                <a16:creationId xmlns:a16="http://schemas.microsoft.com/office/drawing/2014/main" id="{F435285C-00F6-1E82-77C0-9B2E7BB32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2297905"/>
            <a:ext cx="11029950" cy="4248150"/>
          </a:xfrm>
          <a:prstGeom prst="rect">
            <a:avLst/>
          </a:prstGeom>
          <a:noFill/>
          <a:ln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E45643-AF8B-D057-7F91-69D0B04C5676}"/>
              </a:ext>
            </a:extLst>
          </p:cNvPr>
          <p:cNvSpPr txBox="1"/>
          <p:nvPr/>
        </p:nvSpPr>
        <p:spPr>
          <a:xfrm>
            <a:off x="581025" y="1512962"/>
            <a:ext cx="6219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Based on </a:t>
            </a:r>
            <a:r>
              <a:rPr lang="en-US" sz="2400" dirty="0" err="1">
                <a:solidFill>
                  <a:schemeClr val="bg1"/>
                </a:solidFill>
              </a:rPr>
              <a:t>oAuth</a:t>
            </a:r>
            <a:r>
              <a:rPr lang="en-US" sz="2400" dirty="0">
                <a:solidFill>
                  <a:schemeClr val="bg1"/>
                </a:solidFill>
              </a:rPr>
              <a:t> 2.1 standard</a:t>
            </a:r>
          </a:p>
        </p:txBody>
      </p:sp>
      <p:pic>
        <p:nvPicPr>
          <p:cNvPr id="1030" name="Picture 6" descr="OAuth 2.0 logo">
            <a:extLst>
              <a:ext uri="{FF2B5EF4-FFF2-40B4-BE49-F238E27FC236}">
                <a16:creationId xmlns:a16="http://schemas.microsoft.com/office/drawing/2014/main" id="{391EB9F3-C440-C445-A589-84192DF2E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982" y="1450900"/>
            <a:ext cx="590550" cy="58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282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E3BFF-A9EE-02C8-270A-E9046F3BD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58E2798-013D-91FD-09F7-EC174CA1E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515" y="1486353"/>
            <a:ext cx="5868970" cy="4901214"/>
          </a:xfrm>
          <a:prstGeom prst="rect">
            <a:avLst/>
          </a:prstGeom>
          <a:ln>
            <a:solidFill>
              <a:srgbClr val="F7CA66"/>
            </a:solidFill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B7C4B0E-0F2C-06DB-B252-10470D1F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MCP Authorization</a:t>
            </a:r>
          </a:p>
        </p:txBody>
      </p:sp>
    </p:spTree>
    <p:extLst>
      <p:ext uri="{BB962C8B-B14F-4D97-AF65-F5344CB8AC3E}">
        <p14:creationId xmlns:p14="http://schemas.microsoft.com/office/powerpoint/2010/main" val="2014916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C9D4DA-CACC-83BE-0EFD-81E2E4EC1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80" y="1092080"/>
            <a:ext cx="7944258" cy="4673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1B2A6F-CC8F-FDB8-76CC-6DF79BD5DD13}"/>
              </a:ext>
            </a:extLst>
          </p:cNvPr>
          <p:cNvSpPr txBox="1"/>
          <p:nvPr/>
        </p:nvSpPr>
        <p:spPr>
          <a:xfrm>
            <a:off x="4462409" y="5765920"/>
            <a:ext cx="7455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Bearer </a:t>
            </a:r>
            <a:r>
              <a:rPr lang="en-US" b="1" dirty="0" err="1">
                <a:solidFill>
                  <a:schemeClr val="bg1"/>
                </a:solidFill>
              </a:rPr>
              <a:t>resource_metadata</a:t>
            </a:r>
            <a:r>
              <a:rPr lang="en-US" b="1" dirty="0">
                <a:solidFill>
                  <a:schemeClr val="bg1"/>
                </a:solidFill>
              </a:rPr>
              <a:t>="https://localhost:7234/.well-known/</a:t>
            </a:r>
            <a:r>
              <a:rPr lang="en-US" b="1" dirty="0" err="1">
                <a:solidFill>
                  <a:schemeClr val="bg1"/>
                </a:solidFill>
              </a:rPr>
              <a:t>oauth</a:t>
            </a:r>
            <a:r>
              <a:rPr lang="en-US" b="1" dirty="0">
                <a:solidFill>
                  <a:schemeClr val="bg1"/>
                </a:solidFill>
              </a:rPr>
              <a:t>-protected-resource/</a:t>
            </a:r>
            <a:r>
              <a:rPr lang="en-US" b="1" dirty="0" err="1">
                <a:solidFill>
                  <a:schemeClr val="bg1"/>
                </a:solidFill>
              </a:rPr>
              <a:t>mcp</a:t>
            </a:r>
            <a:r>
              <a:rPr lang="en-US" b="1" dirty="0">
                <a:solidFill>
                  <a:schemeClr val="bg1"/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399847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3BF16B-DCEF-3541-C5BC-B28A50CEA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27" y="739637"/>
            <a:ext cx="6705945" cy="53787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E1E72C-26D6-F5D2-B0CF-B42A768E97C0}"/>
              </a:ext>
            </a:extLst>
          </p:cNvPr>
          <p:cNvSpPr/>
          <p:nvPr/>
        </p:nvSpPr>
        <p:spPr>
          <a:xfrm>
            <a:off x="3524036" y="3760343"/>
            <a:ext cx="5784351" cy="523982"/>
          </a:xfrm>
          <a:prstGeom prst="rect">
            <a:avLst/>
          </a:prstGeom>
          <a:noFill/>
          <a:ln w="38100">
            <a:solidFill>
              <a:srgbClr val="D552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09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7EDB2B-EB27-71D4-BD8E-FFA03D3ED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733" y="618980"/>
            <a:ext cx="8420533" cy="56200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BFBF81-E142-EBDF-A4DF-96A9BC70E25B}"/>
              </a:ext>
            </a:extLst>
          </p:cNvPr>
          <p:cNvSpPr/>
          <p:nvPr/>
        </p:nvSpPr>
        <p:spPr>
          <a:xfrm>
            <a:off x="7674796" y="618980"/>
            <a:ext cx="2024008" cy="523982"/>
          </a:xfrm>
          <a:prstGeom prst="rect">
            <a:avLst/>
          </a:prstGeom>
          <a:noFill/>
          <a:ln w="38100">
            <a:solidFill>
              <a:srgbClr val="D552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66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675A8-60D8-B59A-8E43-57D43361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Registration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11D199-C96A-18A0-CE91-683A8AE437C5}"/>
              </a:ext>
            </a:extLst>
          </p:cNvPr>
          <p:cNvSpPr/>
          <p:nvPr/>
        </p:nvSpPr>
        <p:spPr>
          <a:xfrm>
            <a:off x="601894" y="2784298"/>
            <a:ext cx="2983787" cy="177742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Dynamic Client Registration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61BD65-D9C0-C101-F0D3-9EEBEB336995}"/>
              </a:ext>
            </a:extLst>
          </p:cNvPr>
          <p:cNvSpPr/>
          <p:nvPr/>
        </p:nvSpPr>
        <p:spPr>
          <a:xfrm>
            <a:off x="4595973" y="2784296"/>
            <a:ext cx="2983787" cy="177742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Client ID Metadata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26E8E4-DF80-B314-02A2-73B40FFAB1FE}"/>
              </a:ext>
            </a:extLst>
          </p:cNvPr>
          <p:cNvSpPr/>
          <p:nvPr/>
        </p:nvSpPr>
        <p:spPr>
          <a:xfrm>
            <a:off x="8590052" y="2784296"/>
            <a:ext cx="2983787" cy="1777429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Manual Registration</a:t>
            </a:r>
          </a:p>
        </p:txBody>
      </p:sp>
      <p:pic>
        <p:nvPicPr>
          <p:cNvPr id="2052" name="Picture 4" descr="Coolface Trollface Meme PNG &amp; SVG Design For T-Shirts">
            <a:extLst>
              <a:ext uri="{FF2B5EF4-FFF2-40B4-BE49-F238E27FC236}">
                <a16:creationId xmlns:a16="http://schemas.microsoft.com/office/drawing/2014/main" id="{7B3807DC-4F3A-9DCB-4462-77AAFEA16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367" y="3888178"/>
            <a:ext cx="1767155" cy="1767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4E1606-2B14-2EF9-0039-D006212984E3}"/>
              </a:ext>
            </a:extLst>
          </p:cNvPr>
          <p:cNvSpPr txBox="1"/>
          <p:nvPr/>
        </p:nvSpPr>
        <p:spPr>
          <a:xfrm>
            <a:off x="9198367" y="5434774"/>
            <a:ext cx="2126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MS Entra ID</a:t>
            </a:r>
          </a:p>
        </p:txBody>
      </p:sp>
    </p:spTree>
    <p:extLst>
      <p:ext uri="{BB962C8B-B14F-4D97-AF65-F5344CB8AC3E}">
        <p14:creationId xmlns:p14="http://schemas.microsoft.com/office/powerpoint/2010/main" val="314100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8770-97E6-AE34-37D1-2E4B50D37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 ID Registration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689C9-A5B7-01AC-39EA-118F6A7CA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25" y="2886320"/>
            <a:ext cx="6045707" cy="3092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3611B0-1E7B-1CC7-2AC0-C29BE4604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02" y="2886320"/>
            <a:ext cx="5513798" cy="3971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F9728F-7CF6-E90A-0957-F970CC740714}"/>
              </a:ext>
            </a:extLst>
          </p:cNvPr>
          <p:cNvSpPr txBox="1"/>
          <p:nvPr/>
        </p:nvSpPr>
        <p:spPr>
          <a:xfrm>
            <a:off x="232026" y="2260315"/>
            <a:ext cx="604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MCP Server 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BBE423-9632-9812-A44A-F27646FE65B2}"/>
              </a:ext>
            </a:extLst>
          </p:cNvPr>
          <p:cNvSpPr txBox="1"/>
          <p:nvPr/>
        </p:nvSpPr>
        <p:spPr>
          <a:xfrm>
            <a:off x="6678202" y="2219085"/>
            <a:ext cx="5513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MCP Client App</a:t>
            </a:r>
          </a:p>
        </p:txBody>
      </p:sp>
    </p:spTree>
    <p:extLst>
      <p:ext uri="{BB962C8B-B14F-4D97-AF65-F5344CB8AC3E}">
        <p14:creationId xmlns:p14="http://schemas.microsoft.com/office/powerpoint/2010/main" val="2012364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076E20-F3DA-C2F4-C828-0A223001A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4" y="2161952"/>
            <a:ext cx="8591992" cy="43309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62CFF0-DF84-A231-6EE0-FDC38678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oAuth</a:t>
            </a:r>
            <a:r>
              <a:rPr lang="en-US" dirty="0"/>
              <a:t> 2.1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43F05-6D9C-3D99-6211-911539920DB8}"/>
              </a:ext>
            </a:extLst>
          </p:cNvPr>
          <p:cNvSpPr/>
          <p:nvPr/>
        </p:nvSpPr>
        <p:spPr>
          <a:xfrm>
            <a:off x="8367988" y="2016265"/>
            <a:ext cx="2024008" cy="523982"/>
          </a:xfrm>
          <a:prstGeom prst="rect">
            <a:avLst/>
          </a:prstGeom>
          <a:noFill/>
          <a:ln w="38100">
            <a:solidFill>
              <a:srgbClr val="D552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A14019-2D03-80E6-4E73-152FD7F4D18E}"/>
              </a:ext>
            </a:extLst>
          </p:cNvPr>
          <p:cNvSpPr/>
          <p:nvPr/>
        </p:nvSpPr>
        <p:spPr>
          <a:xfrm>
            <a:off x="3534311" y="2540247"/>
            <a:ext cx="3873356" cy="367340"/>
          </a:xfrm>
          <a:prstGeom prst="rect">
            <a:avLst/>
          </a:prstGeom>
          <a:noFill/>
          <a:ln w="38100">
            <a:solidFill>
              <a:srgbClr val="D552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6EB2D8-C962-6F26-D5B0-0ACF60B7718B}"/>
              </a:ext>
            </a:extLst>
          </p:cNvPr>
          <p:cNvSpPr/>
          <p:nvPr/>
        </p:nvSpPr>
        <p:spPr>
          <a:xfrm>
            <a:off x="1910993" y="3660132"/>
            <a:ext cx="2445249" cy="367340"/>
          </a:xfrm>
          <a:prstGeom prst="rect">
            <a:avLst/>
          </a:prstGeom>
          <a:noFill/>
          <a:ln w="38100">
            <a:solidFill>
              <a:srgbClr val="D552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90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icrosoft Entra ID">
            <a:extLst>
              <a:ext uri="{FF2B5EF4-FFF2-40B4-BE49-F238E27FC236}">
                <a16:creationId xmlns:a16="http://schemas.microsoft.com/office/drawing/2014/main" id="{F4D48F95-E1C8-180F-283D-F0A2AC8C2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7" y="2108824"/>
            <a:ext cx="4505325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AE8FCD-8D59-0E71-0344-0A83FA78E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Entra ID Sign In</a:t>
            </a:r>
          </a:p>
        </p:txBody>
      </p:sp>
    </p:spTree>
    <p:extLst>
      <p:ext uri="{BB962C8B-B14F-4D97-AF65-F5344CB8AC3E}">
        <p14:creationId xmlns:p14="http://schemas.microsoft.com/office/powerpoint/2010/main" val="2196092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E36792-FC98-049A-F3ED-94C07AAD9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874" y="1534463"/>
            <a:ext cx="6820251" cy="512471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DC94E3-AECC-93C4-40B0-3F72B35862F9}"/>
              </a:ext>
            </a:extLst>
          </p:cNvPr>
          <p:cNvSpPr/>
          <p:nvPr/>
        </p:nvSpPr>
        <p:spPr>
          <a:xfrm>
            <a:off x="2547991" y="6133672"/>
            <a:ext cx="7119991" cy="525504"/>
          </a:xfrm>
          <a:prstGeom prst="rect">
            <a:avLst/>
          </a:prstGeom>
          <a:noFill/>
          <a:ln w="38100">
            <a:solidFill>
              <a:srgbClr val="D552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038496-E2DD-25E1-EB3D-71289DB4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Redirect with Code</a:t>
            </a:r>
          </a:p>
        </p:txBody>
      </p:sp>
    </p:spTree>
    <p:extLst>
      <p:ext uri="{BB962C8B-B14F-4D97-AF65-F5344CB8AC3E}">
        <p14:creationId xmlns:p14="http://schemas.microsoft.com/office/powerpoint/2010/main" val="2247206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2466E7-83AF-EE2D-771D-AA5D0A8C2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328" y="1497063"/>
            <a:ext cx="7253344" cy="51513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F03B0F-D97C-D7B1-1D43-35E4BEC0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Token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B46D25-E538-F1D2-69F1-2B1BC8CF106C}"/>
              </a:ext>
            </a:extLst>
          </p:cNvPr>
          <p:cNvSpPr/>
          <p:nvPr/>
        </p:nvSpPr>
        <p:spPr>
          <a:xfrm>
            <a:off x="7171363" y="1435419"/>
            <a:ext cx="2476072" cy="320021"/>
          </a:xfrm>
          <a:prstGeom prst="rect">
            <a:avLst/>
          </a:prstGeom>
          <a:noFill/>
          <a:ln w="38100">
            <a:solidFill>
              <a:srgbClr val="D552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0CE46F-4BAF-3F51-3F16-AA459B0E3D19}"/>
              </a:ext>
            </a:extLst>
          </p:cNvPr>
          <p:cNvSpPr/>
          <p:nvPr/>
        </p:nvSpPr>
        <p:spPr>
          <a:xfrm>
            <a:off x="2547991" y="4869951"/>
            <a:ext cx="5414481" cy="1748129"/>
          </a:xfrm>
          <a:prstGeom prst="rect">
            <a:avLst/>
          </a:prstGeom>
          <a:noFill/>
          <a:ln w="38100">
            <a:solidFill>
              <a:srgbClr val="D552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38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B3FD16-AFFD-307A-4F41-53F7E8747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715" y="2324043"/>
            <a:ext cx="7188569" cy="220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39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E8E44-CBD9-91AE-145F-2D5154D35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637686-4780-1E60-44AE-893F2355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999" y="1982912"/>
            <a:ext cx="9468001" cy="3760341"/>
          </a:xfrm>
          <a:prstGeom prst="rect">
            <a:avLst/>
          </a:prstGeom>
          <a:ln>
            <a:solidFill>
              <a:srgbClr val="D5522B"/>
            </a:solidFill>
          </a:ln>
        </p:spPr>
      </p:pic>
    </p:spTree>
    <p:extLst>
      <p:ext uri="{BB962C8B-B14F-4D97-AF65-F5344CB8AC3E}">
        <p14:creationId xmlns:p14="http://schemas.microsoft.com/office/powerpoint/2010/main" val="1717842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78B9CE-B3DA-7A8D-4A4D-7C21E8200F2E}"/>
              </a:ext>
            </a:extLst>
          </p:cNvPr>
          <p:cNvSpPr txBox="1"/>
          <p:nvPr/>
        </p:nvSpPr>
        <p:spPr>
          <a:xfrm>
            <a:off x="0" y="3105834"/>
            <a:ext cx="12191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https://github.com/luismanez/agentcamp-madrid-2026</a:t>
            </a:r>
          </a:p>
        </p:txBody>
      </p:sp>
    </p:spTree>
    <p:extLst>
      <p:ext uri="{BB962C8B-B14F-4D97-AF65-F5344CB8AC3E}">
        <p14:creationId xmlns:p14="http://schemas.microsoft.com/office/powerpoint/2010/main" val="4186360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98CE169-BB51-4B5C-6E17-7A2CCD208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85" y="497"/>
            <a:ext cx="12190251" cy="685701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031" name="Title 2">
            <a:extLst>
              <a:ext uri="{FF2B5EF4-FFF2-40B4-BE49-F238E27FC236}">
                <a16:creationId xmlns:a16="http://schemas.microsoft.com/office/drawing/2014/main" id="{51A4886B-9FA2-32F3-D872-047ADD2F3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660" y="487"/>
            <a:ext cx="5668476" cy="6857027"/>
          </a:xfrm>
        </p:spPr>
        <p:txBody>
          <a:bodyPr/>
          <a:lstStyle/>
          <a:p>
            <a:r>
              <a:rPr lang="en-US" sz="5399" dirty="0"/>
              <a:t>Show me the code !!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2F6C5C-AA53-0261-E0F4-10F23F1E7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338" y="3464702"/>
            <a:ext cx="685703" cy="68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1444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DC60-FE64-BFB3-7E87-9136DE27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0B0FED1B-86EB-10E5-C19F-CBE4FEB7D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C020D26D-BF05-2947-05E9-C5A8C58A3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527" y="-167148"/>
            <a:ext cx="2203795" cy="2203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DAE3E2-2F58-E717-8DC8-E7CA3E77EA99}"/>
              </a:ext>
            </a:extLst>
          </p:cNvPr>
          <p:cNvSpPr txBox="1"/>
          <p:nvPr/>
        </p:nvSpPr>
        <p:spPr>
          <a:xfrm>
            <a:off x="-2" y="56537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   ¡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Gracias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a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nuestros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Patrocinadores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8C0B98-C049-64AB-5C30-CB7C3A4F3B02}"/>
              </a:ext>
            </a:extLst>
          </p:cNvPr>
          <p:cNvSpPr txBox="1"/>
          <p:nvPr/>
        </p:nvSpPr>
        <p:spPr>
          <a:xfrm>
            <a:off x="6192506" y="6442825"/>
            <a:ext cx="22286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dirty="0" err="1">
                <a:solidFill>
                  <a:schemeClr val="bg1"/>
                </a:solidFill>
                <a:latin typeface="Lufga" panose="020B0604020202020204" charset="0"/>
              </a:rPr>
              <a:t>Colaboradores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8EEB47-E709-CF5C-4A28-82CE9E23FE9D}"/>
              </a:ext>
            </a:extLst>
          </p:cNvPr>
          <p:cNvSpPr/>
          <p:nvPr/>
        </p:nvSpPr>
        <p:spPr>
          <a:xfrm>
            <a:off x="0" y="2106201"/>
            <a:ext cx="12192000" cy="235716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729AE6-CEB6-83A7-5D21-B8C552E454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11" y="3290368"/>
            <a:ext cx="2846433" cy="9222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13B28A-791E-C55A-35ED-ED8E623B0B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34" y="3250073"/>
            <a:ext cx="2796229" cy="862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485640F-A566-80A6-EA0B-6BD3198442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136" y="3366680"/>
            <a:ext cx="3233792" cy="8129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EBE9333-F319-52DE-89C4-16FD9B2163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92" y="2166985"/>
            <a:ext cx="2721870" cy="10668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C0B624D-AF4C-6F3A-0395-91395BACFB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012" y="2194225"/>
            <a:ext cx="2721870" cy="10668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E6759FA-48D6-5568-C139-3D3F1E7D4B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136" y="2357167"/>
            <a:ext cx="3104787" cy="8032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1924E1-38E6-24A2-EA4A-E296C82D5A6F}"/>
              </a:ext>
            </a:extLst>
          </p:cNvPr>
          <p:cNvSpPr txBox="1"/>
          <p:nvPr/>
        </p:nvSpPr>
        <p:spPr>
          <a:xfrm>
            <a:off x="5195753" y="1582981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rgbClr val="F7CA66"/>
                </a:solidFill>
                <a:latin typeface="Lufga" panose="00000500000000000000" pitchFamily="50" charset="0"/>
              </a:rPr>
              <a:t>PREMIUM</a:t>
            </a:r>
            <a:endParaRPr lang="en-US" sz="2000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32EB21-12E5-D576-E366-488DDC59A97A}"/>
              </a:ext>
            </a:extLst>
          </p:cNvPr>
          <p:cNvSpPr txBox="1"/>
          <p:nvPr/>
        </p:nvSpPr>
        <p:spPr>
          <a:xfrm>
            <a:off x="5634173" y="4734654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F7CA66"/>
                </a:solidFill>
                <a:latin typeface="Lufga" panose="00000500000000000000" pitchFamily="50" charset="0"/>
              </a:rPr>
              <a:t>GOLD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A5FEA4-4AD0-C340-73F0-5980789EADDF}"/>
              </a:ext>
            </a:extLst>
          </p:cNvPr>
          <p:cNvSpPr/>
          <p:nvPr/>
        </p:nvSpPr>
        <p:spPr>
          <a:xfrm>
            <a:off x="-2" y="5174473"/>
            <a:ext cx="12192000" cy="1035979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6ED0AAB-8E81-A270-0098-0DC489E187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988" y="5451670"/>
            <a:ext cx="1560579" cy="48158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DEF6288-746D-B63A-624A-CBC91DA26D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631" y="5276076"/>
            <a:ext cx="1595733" cy="83277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BA8FF17-2934-3D1F-A523-4AE91BEB0D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190" y="5446246"/>
            <a:ext cx="1595733" cy="49243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8FFDDEE-66D8-99CC-B233-74E0A6888A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999" y="6270862"/>
            <a:ext cx="1407143" cy="61747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C947763-BA8C-D836-94CF-5BA79F30EA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017" y="6129913"/>
            <a:ext cx="2006789" cy="89945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3333C40-FBF0-259A-8A8F-7FB41A4C250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8513" y="5438626"/>
            <a:ext cx="1700494" cy="50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70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05A21-AF07-5D89-FAE3-0AA1DD66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219598F9-57FA-29D6-C5E1-BCD16B195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D1DEC5-D317-AFB1-0333-BD0DEDA12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005" y="751743"/>
            <a:ext cx="4289461" cy="4289461"/>
          </a:xfrm>
          <a:prstGeom prst="rect">
            <a:avLst/>
          </a:prstGeom>
          <a:ln w="57150">
            <a:solidFill>
              <a:srgbClr val="113836"/>
            </a:solidFill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B294832-9290-3293-2D17-9FC7F81C3D21}"/>
              </a:ext>
            </a:extLst>
          </p:cNvPr>
          <p:cNvSpPr/>
          <p:nvPr/>
        </p:nvSpPr>
        <p:spPr>
          <a:xfrm rot="21385415">
            <a:off x="7633194" y="4936461"/>
            <a:ext cx="3283974" cy="523568"/>
          </a:xfrm>
          <a:prstGeom prst="roundRect">
            <a:avLst/>
          </a:prstGeom>
          <a:solidFill>
            <a:srgbClr val="D552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4B105-FFED-E8DB-8ACC-412A03BD949E}"/>
              </a:ext>
            </a:extLst>
          </p:cNvPr>
          <p:cNvSpPr txBox="1"/>
          <p:nvPr/>
        </p:nvSpPr>
        <p:spPr>
          <a:xfrm rot="21393749">
            <a:off x="7692899" y="5013578"/>
            <a:ext cx="3164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Lufga" panose="00000500000000000000" pitchFamily="50" charset="0"/>
                <a:cs typeface="Lao UI" panose="020F0502020204030204" pitchFamily="34" charset="0"/>
              </a:rPr>
              <a:t>https://globalai.es/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83FE4-3F31-8D4A-CC34-7937D2B7910A}"/>
              </a:ext>
            </a:extLst>
          </p:cNvPr>
          <p:cNvSpPr txBox="1"/>
          <p:nvPr/>
        </p:nvSpPr>
        <p:spPr>
          <a:xfrm>
            <a:off x="7703035" y="6349561"/>
            <a:ext cx="42189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AE78D5-1489-7B7E-FA82-D180B9E8FACD}"/>
              </a:ext>
            </a:extLst>
          </p:cNvPr>
          <p:cNvSpPr txBox="1"/>
          <p:nvPr/>
        </p:nvSpPr>
        <p:spPr>
          <a:xfrm>
            <a:off x="875533" y="3202548"/>
            <a:ext cx="556651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F7CA66"/>
                </a:solidFill>
                <a:latin typeface="Lufga" panose="00000500000000000000" pitchFamily="50" charset="0"/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3606660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df2ea9-3bda-4d08-aeb7-dd7d258d2e4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2F19F86BF2484E9A3708F5F57D5296" ma:contentTypeVersion="11" ma:contentTypeDescription="Een nieuw document maken." ma:contentTypeScope="" ma:versionID="fb8857062fb25c16086471511bdaffe7">
  <xsd:schema xmlns:xsd="http://www.w3.org/2001/XMLSchema" xmlns:xs="http://www.w3.org/2001/XMLSchema" xmlns:p="http://schemas.microsoft.com/office/2006/metadata/properties" xmlns:ns3="b8df2ea9-3bda-4d08-aeb7-dd7d258d2e46" targetNamespace="http://schemas.microsoft.com/office/2006/metadata/properties" ma:root="true" ma:fieldsID="3b808b6b326e79d8ddbb9dd4e3003da0" ns3:_="">
    <xsd:import namespace="b8df2ea9-3bda-4d08-aeb7-dd7d258d2e4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df2ea9-3bda-4d08-aeb7-dd7d258d2e4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F6091E-1E8B-4BD4-AA90-75221ED3D456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www.w3.org/XML/1998/namespace"/>
    <ds:schemaRef ds:uri="b8df2ea9-3bda-4d08-aeb7-dd7d258d2e46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166A811-0E9C-4D5C-AB8F-5DC215D8F6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919305-6CEE-404D-A79A-2756D56303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df2ea9-3bda-4d08-aeb7-dd7d258d2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333</Words>
  <Application>Microsoft Office PowerPoint</Application>
  <PresentationFormat>Widescreen</PresentationFormat>
  <Paragraphs>84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Montserrat SemiBold</vt:lpstr>
      <vt:lpstr>Aptos</vt:lpstr>
      <vt:lpstr>Arial</vt:lpstr>
      <vt:lpstr>Lufga</vt:lpstr>
      <vt:lpstr>Calibri</vt:lpstr>
      <vt:lpstr>Office Theme</vt:lpstr>
      <vt:lpstr>PowerPoint Presentation</vt:lpstr>
      <vt:lpstr>PowerPoint Presentation</vt:lpstr>
      <vt:lpstr>PowerPoint Presentation</vt:lpstr>
      <vt:lpstr>Join the AI Conversation  on Discord</vt:lpstr>
      <vt:lpstr>Model Context Protocol</vt:lpstr>
      <vt:lpstr>Why do we need this (sh1t)!</vt:lpstr>
      <vt:lpstr>What is MCP  (yet another protocol)</vt:lpstr>
      <vt:lpstr>PowerPoint Presentation</vt:lpstr>
      <vt:lpstr>MCP Protocol</vt:lpstr>
      <vt:lpstr>PowerPoint Presentation</vt:lpstr>
      <vt:lpstr>PowerPoint Presentation</vt:lpstr>
      <vt:lpstr>MCP Server Features</vt:lpstr>
      <vt:lpstr>MCP Client Features</vt:lpstr>
      <vt:lpstr>MCP Authorization</vt:lpstr>
      <vt:lpstr>MCP Authorization</vt:lpstr>
      <vt:lpstr>PowerPoint Presentation</vt:lpstr>
      <vt:lpstr>PowerPoint Presentation</vt:lpstr>
      <vt:lpstr>PowerPoint Presentation</vt:lpstr>
      <vt:lpstr>Client Registration</vt:lpstr>
      <vt:lpstr>Entra ID Registration</vt:lpstr>
      <vt:lpstr>oAuth 2.1 Flow</vt:lpstr>
      <vt:lpstr>Entra ID Sign In</vt:lpstr>
      <vt:lpstr>Redirect with Code</vt:lpstr>
      <vt:lpstr>Get Token</vt:lpstr>
      <vt:lpstr>PowerPoint Presentation</vt:lpstr>
      <vt:lpstr>Demo Architecture</vt:lpstr>
      <vt:lpstr>PowerPoint Presentation</vt:lpstr>
      <vt:lpstr>Show me the code !!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Luis Mañez</cp:lastModifiedBy>
  <cp:revision>39</cp:revision>
  <dcterms:created xsi:type="dcterms:W3CDTF">2026-01-15T14:46:51Z</dcterms:created>
  <dcterms:modified xsi:type="dcterms:W3CDTF">2026-02-28T09:27:23Z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0x0101005A2F19F86BF2484E9A3708F5F57D5296</vt:lpwstr>
  </property>
</Properties>
</file>